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8"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7726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DCFA2-939C-DA27-2806-E6F876E85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94388-B270-6B2E-E4DB-2074FFEEFBB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0516A68-B7EE-D799-8132-AC9D2976C0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C8FD62-76F7-14AB-0C97-D7B3660F0E2B}"/>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888632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FBE74-79D8-B18B-0A75-2258EF5DD7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96EC1DC-69AC-A9CC-2DC7-6A909FF5C47F}"/>
              </a:ext>
            </a:extLst>
          </p:cNvPr>
          <p:cNvSpPr/>
          <p:nvPr/>
        </p:nvSpPr>
        <p:spPr>
          <a:xfrm>
            <a:off x="548639" y="37812"/>
            <a:ext cx="11064240" cy="548640"/>
          </a:xfrm>
          <a:prstGeom prst="rect">
            <a:avLst/>
          </a:prstGeom>
          <a:noFill/>
          <a:ln/>
        </p:spPr>
        <p:txBody>
          <a:bodyPr wrap="square" lIns="0" tIns="0" rIns="0" bIns="0" rtlCol="0" anchor="ctr"/>
          <a:lstStyle/>
          <a:p>
            <a:pPr marL="0" indent="0">
              <a:buNone/>
            </a:pPr>
            <a:r>
              <a:rPr lang="en-US" sz="2000" b="1" dirty="0">
                <a:solidFill>
                  <a:srgbClr val="1E2761"/>
                </a:solidFill>
                <a:latin typeface="+mj-lt"/>
                <a:ea typeface="Trebuchet MS" pitchFamily="34" charset="-122"/>
                <a:cs typeface="Trebuchet MS" pitchFamily="34" charset="-120"/>
              </a:rPr>
              <a:t>AI Risk Appetite &amp; Tolerance Statements (Deliverable A)</a:t>
            </a:r>
            <a:endParaRPr lang="en-US" sz="2000" dirty="0">
              <a:latin typeface="+mj-lt"/>
            </a:endParaRPr>
          </a:p>
        </p:txBody>
      </p:sp>
      <p:sp>
        <p:nvSpPr>
          <p:cNvPr id="3" name="Text 1">
            <a:extLst>
              <a:ext uri="{FF2B5EF4-FFF2-40B4-BE49-F238E27FC236}">
                <a16:creationId xmlns:a16="http://schemas.microsoft.com/office/drawing/2014/main" id="{E13E7E2F-65AE-5179-D048-0A78A6CF8DB4}"/>
              </a:ext>
            </a:extLst>
          </p:cNvPr>
          <p:cNvSpPr/>
          <p:nvPr/>
        </p:nvSpPr>
        <p:spPr>
          <a:xfrm>
            <a:off x="548639" y="510543"/>
            <a:ext cx="11347569" cy="36576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0" indent="0">
              <a:buNone/>
            </a:pPr>
            <a:r>
              <a:rPr lang="en-US" sz="1050" b="1" dirty="0">
                <a:solidFill>
                  <a:srgbClr val="5A6178"/>
                </a:solidFill>
                <a:latin typeface="Calibri" pitchFamily="34" charset="0"/>
                <a:ea typeface="Calibri" pitchFamily="34" charset="-122"/>
                <a:cs typeface="Calibri" pitchFamily="34" charset="-120"/>
              </a:rPr>
              <a:t>Five substrate properties for the Nordhaven–LumaPay acquisition.  The tightest tolerances fall on LumaPay-origin systems (AutoUnderwriter Agent, LumaAssist Chat) through the 12–18 month parallel-operations window.</a:t>
            </a:r>
            <a:endParaRPr lang="en-US" sz="1050" b="1" dirty="0"/>
          </a:p>
        </p:txBody>
      </p:sp>
      <p:sp>
        <p:nvSpPr>
          <p:cNvPr id="59" name="Text 52">
            <a:extLst>
              <a:ext uri="{FF2B5EF4-FFF2-40B4-BE49-F238E27FC236}">
                <a16:creationId xmlns:a16="http://schemas.microsoft.com/office/drawing/2014/main" id="{77EDAECC-97DD-4960-255C-81014814B679}"/>
              </a:ext>
            </a:extLst>
          </p:cNvPr>
          <p:cNvSpPr/>
          <p:nvPr/>
        </p:nvSpPr>
        <p:spPr>
          <a:xfrm>
            <a:off x="563880" y="6248368"/>
            <a:ext cx="11332328" cy="222607"/>
          </a:xfrm>
          <a:prstGeom prst="rect">
            <a:avLst/>
          </a:prstGeom>
          <a:noFill/>
          <a:ln w="19050">
            <a:solidFill>
              <a:schemeClr val="accent1">
                <a:lumMod val="50000"/>
              </a:schemeClr>
            </a:solidFill>
          </a:ln>
        </p:spPr>
        <p:txBody>
          <a:bodyPr wrap="square" lIns="0" tIns="0" rIns="0" bIns="0" rtlCol="0" anchor="ctr"/>
          <a:lstStyle/>
          <a:p>
            <a:pPr marL="0" indent="0">
              <a:buNone/>
            </a:pPr>
            <a:r>
              <a:rPr lang="en-US" sz="1000" b="1" i="1" dirty="0">
                <a:solidFill>
                  <a:srgbClr val="1E2761"/>
                </a:solidFill>
                <a:latin typeface="Calibri" pitchFamily="34" charset="0"/>
                <a:ea typeface="Calibri" pitchFamily="34" charset="-122"/>
                <a:cs typeface="Calibri" pitchFamily="34" charset="-120"/>
              </a:rPr>
              <a:t>Note:  </a:t>
            </a:r>
            <a:r>
              <a:rPr lang="en-US" sz="1000" i="1" dirty="0">
                <a:solidFill>
                  <a:srgbClr val="1E2761"/>
                </a:solidFill>
                <a:latin typeface="Calibri" pitchFamily="34" charset="0"/>
                <a:ea typeface="Calibri" pitchFamily="34" charset="-122"/>
                <a:cs typeface="Calibri" pitchFamily="34" charset="-120"/>
              </a:rPr>
              <a:t>Numeric thresholds (5%, 5-day SLA, concentration limits) are provisional, in real-world these should be calibrated against Nordhaven's ERM bands and the unified AI registry in the NIST AI RMF ‘Measure’ phase.</a:t>
            </a:r>
          </a:p>
        </p:txBody>
      </p:sp>
      <p:sp>
        <p:nvSpPr>
          <p:cNvPr id="61" name="Text 54">
            <a:extLst>
              <a:ext uri="{FF2B5EF4-FFF2-40B4-BE49-F238E27FC236}">
                <a16:creationId xmlns:a16="http://schemas.microsoft.com/office/drawing/2014/main" id="{266475CC-37E1-1C92-C644-0C88CF351D34}"/>
              </a:ext>
            </a:extLst>
          </p:cNvPr>
          <p:cNvSpPr/>
          <p:nvPr/>
        </p:nvSpPr>
        <p:spPr>
          <a:xfrm>
            <a:off x="11262843" y="6318069"/>
            <a:ext cx="350036" cy="247323"/>
          </a:xfrm>
          <a:prstGeom prst="rect">
            <a:avLst/>
          </a:prstGeom>
          <a:noFill/>
          <a:ln/>
        </p:spPr>
        <p:txBody>
          <a:bodyPr wrap="square" lIns="0" tIns="0" rIns="0" bIns="0" rtlCol="0" anchor="ctr"/>
          <a:lstStyle/>
          <a:p>
            <a:pPr marL="0" indent="0" algn="r">
              <a:buNone/>
            </a:pPr>
            <a:r>
              <a:rPr lang="en-US" sz="850" dirty="0">
                <a:solidFill>
                  <a:srgbClr val="5A6178"/>
                </a:solidFill>
                <a:latin typeface="Calibri" pitchFamily="34" charset="0"/>
                <a:ea typeface="Calibri" pitchFamily="34" charset="-122"/>
                <a:cs typeface="Calibri" pitchFamily="34" charset="-120"/>
              </a:rPr>
              <a:t>1</a:t>
            </a:r>
            <a:endParaRPr lang="en-US" sz="850" dirty="0"/>
          </a:p>
        </p:txBody>
      </p:sp>
      <p:graphicFrame>
        <p:nvGraphicFramePr>
          <p:cNvPr id="65" name="Table 64">
            <a:extLst>
              <a:ext uri="{FF2B5EF4-FFF2-40B4-BE49-F238E27FC236}">
                <a16:creationId xmlns:a16="http://schemas.microsoft.com/office/drawing/2014/main" id="{F411ED7E-6884-6B26-8230-351072FAEBC4}"/>
              </a:ext>
            </a:extLst>
          </p:cNvPr>
          <p:cNvGraphicFramePr>
            <a:graphicFrameLocks noGrp="1"/>
          </p:cNvGraphicFramePr>
          <p:nvPr>
            <p:extLst>
              <p:ext uri="{D42A27DB-BD31-4B8C-83A1-F6EECF244321}">
                <p14:modId xmlns:p14="http://schemas.microsoft.com/office/powerpoint/2010/main" val="3903105456"/>
              </p:ext>
            </p:extLst>
          </p:nvPr>
        </p:nvGraphicFramePr>
        <p:xfrm>
          <a:off x="548640" y="956390"/>
          <a:ext cx="11347570" cy="5232400"/>
        </p:xfrm>
        <a:graphic>
          <a:graphicData uri="http://schemas.openxmlformats.org/drawingml/2006/table">
            <a:tbl>
              <a:tblPr firstRow="1" bandRow="1">
                <a:tableStyleId>{5940675A-B579-460E-94D1-54222C63F5DA}</a:tableStyleId>
              </a:tblPr>
              <a:tblGrid>
                <a:gridCol w="969609">
                  <a:extLst>
                    <a:ext uri="{9D8B030D-6E8A-4147-A177-3AD203B41FA5}">
                      <a16:colId xmlns:a16="http://schemas.microsoft.com/office/drawing/2014/main" val="3119528750"/>
                    </a:ext>
                  </a:extLst>
                </a:gridCol>
                <a:gridCol w="1897811">
                  <a:extLst>
                    <a:ext uri="{9D8B030D-6E8A-4147-A177-3AD203B41FA5}">
                      <a16:colId xmlns:a16="http://schemas.microsoft.com/office/drawing/2014/main" val="3305849268"/>
                    </a:ext>
                  </a:extLst>
                </a:gridCol>
                <a:gridCol w="1975449">
                  <a:extLst>
                    <a:ext uri="{9D8B030D-6E8A-4147-A177-3AD203B41FA5}">
                      <a16:colId xmlns:a16="http://schemas.microsoft.com/office/drawing/2014/main" val="983648727"/>
                    </a:ext>
                  </a:extLst>
                </a:gridCol>
                <a:gridCol w="2129329">
                  <a:extLst>
                    <a:ext uri="{9D8B030D-6E8A-4147-A177-3AD203B41FA5}">
                      <a16:colId xmlns:a16="http://schemas.microsoft.com/office/drawing/2014/main" val="1658344421"/>
                    </a:ext>
                  </a:extLst>
                </a:gridCol>
                <a:gridCol w="2182483">
                  <a:extLst>
                    <a:ext uri="{9D8B030D-6E8A-4147-A177-3AD203B41FA5}">
                      <a16:colId xmlns:a16="http://schemas.microsoft.com/office/drawing/2014/main" val="1760715155"/>
                    </a:ext>
                  </a:extLst>
                </a:gridCol>
                <a:gridCol w="2192889">
                  <a:extLst>
                    <a:ext uri="{9D8B030D-6E8A-4147-A177-3AD203B41FA5}">
                      <a16:colId xmlns:a16="http://schemas.microsoft.com/office/drawing/2014/main" val="387018152"/>
                    </a:ext>
                  </a:extLst>
                </a:gridCol>
              </a:tblGrid>
              <a:tr h="0">
                <a:tc>
                  <a:txBody>
                    <a:bodyPr/>
                    <a:lstStyle/>
                    <a:p>
                      <a:pPr algn="ctr"/>
                      <a:endParaRPr lang="en-GB" sz="900" b="1" kern="1200" dirty="0">
                        <a:solidFill>
                          <a:schemeClr val="dk1"/>
                        </a:solidFill>
                        <a:latin typeface="+mn-lt"/>
                        <a:ea typeface="+mn-ea"/>
                        <a:cs typeface="+mn-cs"/>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dirty="0">
                          <a:solidFill>
                            <a:srgbClr val="1B2138"/>
                          </a:solidFill>
                        </a:rPr>
                        <a:t>Opacity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dirty="0">
                          <a:solidFill>
                            <a:srgbClr val="1B2138"/>
                          </a:solidFill>
                        </a:rPr>
                        <a:t>Appetite: Low</a:t>
                      </a:r>
                      <a:endParaRPr lang="en-US" sz="900" b="1" i="0" kern="1200" dirty="0">
                        <a:solidFill>
                          <a:srgbClr val="1B2138"/>
                        </a:solidFill>
                        <a:latin typeface="Calibri" pitchFamily="34" charset="0"/>
                        <a:ea typeface="Calibri" pitchFamily="34" charset="-122"/>
                        <a:cs typeface="Calibri" pitchFamily="34" charset="-12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dirty="0">
                          <a:solidFill>
                            <a:srgbClr val="1B2138"/>
                          </a:solidFill>
                        </a:rPr>
                        <a:t>Autonomy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dirty="0">
                          <a:solidFill>
                            <a:srgbClr val="1B2138"/>
                          </a:solidFill>
                        </a:rPr>
                        <a:t>Appetite: Very Low</a:t>
                      </a:r>
                      <a:endParaRPr lang="en-US" sz="900" b="1" i="0" kern="1200" dirty="0">
                        <a:solidFill>
                          <a:srgbClr val="1B2138"/>
                        </a:solidFill>
                        <a:latin typeface="Calibri" pitchFamily="34" charset="0"/>
                        <a:ea typeface="Calibri" pitchFamily="34" charset="-122"/>
                        <a:cs typeface="Calibri" pitchFamily="34" charset="-12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dirty="0">
                          <a:solidFill>
                            <a:srgbClr val="1B2138"/>
                          </a:solidFill>
                        </a:rPr>
                        <a:t>Dependency</a:t>
                      </a:r>
                    </a:p>
                    <a:p>
                      <a:pPr algn="ctr"/>
                      <a:r>
                        <a:rPr lang="en-GB" sz="900" b="1" kern="1200" dirty="0">
                          <a:solidFill>
                            <a:srgbClr val="1B2138"/>
                          </a:solidFill>
                        </a:rPr>
                        <a:t>Appetite: Moderate</a:t>
                      </a:r>
                      <a:endParaRPr lang="en-GB" sz="900" b="1" i="0" kern="1200" dirty="0">
                        <a:solidFill>
                          <a:srgbClr val="1B2138"/>
                        </a:solidFill>
                        <a:latin typeface="Calibri" pitchFamily="34" charset="0"/>
                        <a:ea typeface="Calibri" pitchFamily="34" charset="-122"/>
                        <a:cs typeface="Calibri" pitchFamily="34" charset="-120"/>
                      </a:endParaRPr>
                    </a:p>
                  </a:txBody>
                  <a:tcPr/>
                </a:tc>
                <a:tc>
                  <a:txBody>
                    <a:bodyPr/>
                    <a:lstStyle/>
                    <a:p>
                      <a:pPr algn="ctr"/>
                      <a:r>
                        <a:rPr lang="en-US" sz="900" b="1" kern="1200" dirty="0">
                          <a:solidFill>
                            <a:srgbClr val="1B2138"/>
                          </a:solidFill>
                        </a:rPr>
                        <a:t>Drift</a:t>
                      </a:r>
                    </a:p>
                    <a:p>
                      <a:pPr algn="ctr"/>
                      <a:r>
                        <a:rPr lang="en-US" sz="900" b="1" kern="1200" dirty="0">
                          <a:solidFill>
                            <a:srgbClr val="1B2138"/>
                          </a:solidFill>
                        </a:rPr>
                        <a:t>Appetite: Low</a:t>
                      </a:r>
                      <a:endParaRPr lang="en-GB" sz="900" b="1" i="0" kern="1200" dirty="0">
                        <a:solidFill>
                          <a:srgbClr val="1B2138"/>
                        </a:solidFill>
                        <a:latin typeface="Calibri" pitchFamily="34" charset="0"/>
                        <a:ea typeface="Calibri" pitchFamily="34" charset="-122"/>
                        <a:cs typeface="Calibri" pitchFamily="34" charset="-12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dirty="0">
                          <a:solidFill>
                            <a:srgbClr val="1B2138"/>
                          </a:solidFill>
                        </a:rPr>
                        <a:t>Scale asymmetry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dirty="0">
                          <a:solidFill>
                            <a:srgbClr val="1B2138"/>
                          </a:solidFill>
                        </a:rPr>
                        <a:t>Appetite: Very Low</a:t>
                      </a:r>
                      <a:endParaRPr lang="en-US" sz="900" b="1" i="0" kern="1200" dirty="0">
                        <a:solidFill>
                          <a:srgbClr val="1B2138"/>
                        </a:solidFill>
                        <a:latin typeface="Calibri" pitchFamily="34" charset="0"/>
                        <a:ea typeface="Calibri" pitchFamily="34" charset="-122"/>
                        <a:cs typeface="Calibri" pitchFamily="34" charset="-120"/>
                      </a:endParaRPr>
                    </a:p>
                  </a:txBody>
                  <a:tcPr/>
                </a:tc>
                <a:extLst>
                  <a:ext uri="{0D108BD9-81ED-4DB2-BD59-A6C34878D82A}">
                    <a16:rowId xmlns:a16="http://schemas.microsoft.com/office/drawing/2014/main" val="4141676568"/>
                  </a:ext>
                </a:extLst>
              </a:tr>
              <a:tr h="0">
                <a:tc>
                  <a:txBody>
                    <a:bodyPr/>
                    <a:lstStyle/>
                    <a:p>
                      <a:pPr algn="ctr"/>
                      <a:r>
                        <a:rPr lang="en-US" sz="800" b="1" kern="1200" dirty="0">
                          <a:solidFill>
                            <a:schemeClr val="dk1"/>
                          </a:solidFill>
                        </a:rPr>
                        <a:t>Appetite Statements</a:t>
                      </a:r>
                    </a:p>
                    <a:p>
                      <a:pPr algn="ctr"/>
                      <a:r>
                        <a:rPr lang="en-US" sz="800" i="1" dirty="0">
                          <a:solidFill>
                            <a:srgbClr val="1B2138"/>
                          </a:solidFill>
                        </a:rPr>
                        <a:t>(qualitative posture the Board accepts for each property)</a:t>
                      </a:r>
                      <a:endParaRPr lang="en-GB" sz="800" b="1" i="1" kern="1200" dirty="0">
                        <a:solidFill>
                          <a:schemeClr val="dk1"/>
                        </a:solidFill>
                        <a:latin typeface="+mn-lt"/>
                        <a:ea typeface="+mn-ea"/>
                        <a:cs typeface="+mn-cs"/>
                      </a:endParaRPr>
                    </a:p>
                  </a:txBody>
                  <a:tcPr anchor="ct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i="0" kern="1200" dirty="0">
                          <a:solidFill>
                            <a:srgbClr val="1B2138"/>
                          </a:solidFill>
                          <a:latin typeface="+mn-lt"/>
                          <a:ea typeface="+mn-ea"/>
                          <a:cs typeface="+mn-cs"/>
                        </a:rPr>
                        <a:t>Nordhaven has low appetite and requires transparency in AI systems with legal or significant customer impact. Credit or underwriting decisions must only use models whose outputs are explainable to customers and auditable.</a:t>
                      </a:r>
                      <a:endParaRPr lang="en-GB" sz="800" i="0" kern="1200" dirty="0">
                        <a:solidFill>
                          <a:srgbClr val="1B2138"/>
                        </a:solidFill>
                        <a:latin typeface="+mn-lt"/>
                        <a:ea typeface="+mn-ea"/>
                        <a:cs typeface="+mn-cs"/>
                      </a:endParaRPr>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i="0" kern="1200" dirty="0">
                          <a:solidFill>
                            <a:srgbClr val="1B2138"/>
                          </a:solidFill>
                          <a:latin typeface="+mn-lt"/>
                          <a:ea typeface="+mn-ea"/>
                          <a:cs typeface="+mn-cs"/>
                        </a:rPr>
                        <a:t>Nordhaven has very low tolerance for autonomous AI in customer‑impacting or financially material processes. Agentic systems may advise only; consequential actions require human oversight until formal autonomy approval is achieved.</a:t>
                      </a:r>
                      <a:endParaRPr lang="en-GB" sz="800" i="0" kern="1200" dirty="0">
                        <a:solidFill>
                          <a:srgbClr val="1B2138"/>
                        </a:solidFill>
                        <a:latin typeface="+mn-lt"/>
                        <a:ea typeface="+mn-ea"/>
                        <a:cs typeface="+mn-cs"/>
                      </a:endParaRPr>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i="0" kern="1200" dirty="0">
                          <a:solidFill>
                            <a:srgbClr val="1B2138"/>
                          </a:solidFill>
                          <a:latin typeface="+mn-lt"/>
                          <a:ea typeface="+mn-ea"/>
                          <a:cs typeface="+mn-cs"/>
                        </a:rPr>
                        <a:t>Nordhaven has a moderate, actively managed reliance on third‑party AI. While commercially necessary, dependencies are unacceptable where a single provider could cause uncontrolled service or compliance failure without a fallback.</a:t>
                      </a:r>
                      <a:endParaRPr lang="en-GB" sz="800" i="0" kern="1200" dirty="0">
                        <a:solidFill>
                          <a:srgbClr val="1B2138"/>
                        </a:solidFill>
                        <a:latin typeface="+mn-lt"/>
                        <a:ea typeface="+mn-ea"/>
                        <a:cs typeface="+mn-cs"/>
                      </a:endParaRPr>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i="0" kern="1200" dirty="0">
                          <a:solidFill>
                            <a:srgbClr val="1B2138"/>
                          </a:solidFill>
                          <a:latin typeface="+mn-lt"/>
                          <a:ea typeface="+mn-ea"/>
                          <a:cs typeface="+mn-cs"/>
                        </a:rPr>
                        <a:t>Nordhaven has low appetite for undetected model drift. Some performance drift is inevitable and acceptable if detected, bounded, and acted upon; drift that is silent or unmonitored is not acceptable for any production model.</a:t>
                      </a:r>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i="0" kern="1200" dirty="0">
                          <a:solidFill>
                            <a:srgbClr val="1B2138"/>
                          </a:solidFill>
                          <a:latin typeface="+mn-lt"/>
                          <a:ea typeface="+mn-ea"/>
                          <a:cs typeface="+mn-cs"/>
                        </a:rPr>
                        <a:t>Nordhaven has very low appetite for scale asymmetry—situations where a single model error, prompt-injection, or biased decision propagates across the combined customer base before detection. Speed of impact must never exceed speed of control.</a:t>
                      </a:r>
                    </a:p>
                  </a:txBody>
                  <a:tcPr>
                    <a:solidFill>
                      <a:schemeClr val="accent1">
                        <a:lumMod val="40000"/>
                        <a:lumOff val="60000"/>
                      </a:schemeClr>
                    </a:solidFill>
                  </a:tcPr>
                </a:tc>
                <a:extLst>
                  <a:ext uri="{0D108BD9-81ED-4DB2-BD59-A6C34878D82A}">
                    <a16:rowId xmlns:a16="http://schemas.microsoft.com/office/drawing/2014/main" val="4085405339"/>
                  </a:ext>
                </a:extLst>
              </a:tr>
              <a:tr h="0">
                <a:tc>
                  <a:txBody>
                    <a:bodyPr/>
                    <a:lstStyle/>
                    <a:p>
                      <a:pPr algn="ctr"/>
                      <a:r>
                        <a:rPr lang="en-US" sz="800" b="1" kern="1200" dirty="0">
                          <a:solidFill>
                            <a:schemeClr val="dk1"/>
                          </a:solidFill>
                        </a:rPr>
                        <a:t>Quantitative Tolerances</a:t>
                      </a:r>
                    </a:p>
                    <a:p>
                      <a:pPr marL="0" algn="ctr" defTabSz="914400" rtl="0" eaLnBrk="1" latinLnBrk="0" hangingPunct="1"/>
                      <a:r>
                        <a:rPr lang="en-US" sz="800" i="1" kern="1200" dirty="0">
                          <a:solidFill>
                            <a:srgbClr val="1B2138"/>
                          </a:solidFill>
                          <a:latin typeface="+mn-lt"/>
                          <a:ea typeface="+mn-ea"/>
                          <a:cs typeface="+mn-cs"/>
                        </a:rPr>
                        <a:t>(hard thresholds that trigger escalation or breach. Numeric values are provisional)</a:t>
                      </a:r>
                      <a:endParaRPr lang="en-GB" sz="800" i="1" kern="1200" dirty="0">
                        <a:solidFill>
                          <a:srgbClr val="1B2138"/>
                        </a:solidFill>
                        <a:latin typeface="+mn-lt"/>
                        <a:ea typeface="+mn-ea"/>
                        <a:cs typeface="+mn-cs"/>
                      </a:endParaRPr>
                    </a:p>
                  </a:txBody>
                  <a:tcPr anchor="ctr"/>
                </a:tc>
                <a:tc>
                  <a:txBody>
                    <a:bodyPr/>
                    <a:lstStyle/>
                    <a:p>
                      <a:pPr marL="177800" indent="-177800">
                        <a:lnSpc>
                          <a:spcPct val="100000"/>
                        </a:lnSpc>
                        <a:spcAft>
                          <a:spcPts val="800"/>
                        </a:spcAft>
                        <a:buSzPct val="100000"/>
                        <a:buChar char="•"/>
                      </a:pPr>
                      <a:r>
                        <a:rPr lang="en-US" sz="800" dirty="0">
                          <a:solidFill>
                            <a:srgbClr val="1B2138"/>
                          </a:solidFill>
                        </a:rPr>
                        <a:t>Zero tolerance: any production credit/underwriting decision must have a recorded, reproducible explanation.</a:t>
                      </a:r>
                    </a:p>
                    <a:p>
                      <a:pPr marL="177800" indent="-177800">
                        <a:lnSpc>
                          <a:spcPct val="100000"/>
                        </a:lnSpc>
                        <a:spcAft>
                          <a:spcPts val="800"/>
                        </a:spcAft>
                        <a:buSzPct val="100000"/>
                        <a:buChar char="•"/>
                      </a:pPr>
                      <a:r>
                        <a:rPr lang="en-US" sz="800" dirty="0">
                          <a:solidFill>
                            <a:srgbClr val="1B2138"/>
                          </a:solidFill>
                        </a:rPr>
                        <a:t>≤5% of models may be “black box,” limited to non-customer-facing, low-impact use with monitoring and quarterly review.</a:t>
                      </a:r>
                    </a:p>
                    <a:p>
                      <a:pPr marL="177800" indent="-177800">
                        <a:lnSpc>
                          <a:spcPct val="100000"/>
                        </a:lnSpc>
                        <a:spcAft>
                          <a:spcPts val="800"/>
                        </a:spcAft>
                        <a:buSzPct val="100000"/>
                        <a:buChar char="•"/>
                      </a:pPr>
                      <a:r>
                        <a:rPr lang="en-US" sz="800" dirty="0">
                          <a:solidFill>
                            <a:srgbClr val="1B2138"/>
                          </a:solidFill>
                        </a:rPr>
                        <a:t>100% of high-risk (EU AI Act Annex III) systems must maintain current technical documentation; gaps are breaches requiring a 30‑day remediation plan.</a:t>
                      </a:r>
                      <a:endParaRPr lang="en-US" sz="800" dirty="0">
                        <a:latin typeface="+mn-lt"/>
                      </a:endParaRPr>
                    </a:p>
                  </a:txBody>
                  <a:tcPr>
                    <a:solidFill>
                      <a:schemeClr val="accent1">
                        <a:lumMod val="20000"/>
                        <a:lumOff val="80000"/>
                      </a:schemeClr>
                    </a:solidFill>
                  </a:tcPr>
                </a:tc>
                <a:tc>
                  <a:txBody>
                    <a:bodyPr/>
                    <a:lstStyle/>
                    <a:p>
                      <a:pPr marL="177800" indent="-177800">
                        <a:lnSpc>
                          <a:spcPct val="100000"/>
                        </a:lnSpc>
                        <a:spcAft>
                          <a:spcPts val="800"/>
                        </a:spcAft>
                        <a:buSzPct val="100000"/>
                        <a:buChar char="•"/>
                      </a:pPr>
                      <a:r>
                        <a:rPr lang="en-US" sz="800" dirty="0">
                          <a:solidFill>
                            <a:srgbClr val="1B2138"/>
                          </a:solidFill>
                        </a:rPr>
                        <a:t>Zero tolerance for fully autonomous adverse credit decisions during the 12–18 month parallel‑operations phase; human review required above defined exposure thresholds.</a:t>
                      </a:r>
                    </a:p>
                    <a:p>
                      <a:pPr marL="177800" indent="-177800">
                        <a:lnSpc>
                          <a:spcPct val="100000"/>
                        </a:lnSpc>
                        <a:spcAft>
                          <a:spcPts val="800"/>
                        </a:spcAft>
                        <a:buSzPct val="100000"/>
                        <a:buChar char="•"/>
                      </a:pPr>
                      <a:r>
                        <a:rPr lang="en-US" sz="800" dirty="0">
                          <a:solidFill>
                            <a:srgbClr val="1B2138"/>
                          </a:solidFill>
                        </a:rPr>
                        <a:t>All agentic workflows must have documented tool/permission boundaries; scope changes require Govern‑level approval.</a:t>
                      </a:r>
                    </a:p>
                    <a:p>
                      <a:pPr marL="177800" indent="-177800">
                        <a:lnSpc>
                          <a:spcPct val="100000"/>
                        </a:lnSpc>
                        <a:spcAft>
                          <a:spcPts val="800"/>
                        </a:spcAft>
                        <a:buSzPct val="100000"/>
                        <a:buChar char="•"/>
                      </a:pPr>
                      <a:r>
                        <a:rPr lang="en-US" sz="800" dirty="0">
                          <a:solidFill>
                            <a:srgbClr val="1B2138"/>
                          </a:solidFill>
                        </a:rPr>
                        <a:t>Breach if an agent operates </a:t>
                      </a:r>
                      <a:r>
                        <a:rPr lang="ar-AE" sz="800" dirty="0">
                          <a:solidFill>
                            <a:srgbClr val="1B2138"/>
                          </a:solidFill>
                        </a:rPr>
                        <a:t>خارج </a:t>
                      </a:r>
                      <a:r>
                        <a:rPr lang="en-US" sz="800" dirty="0">
                          <a:solidFill>
                            <a:srgbClr val="1B2138"/>
                          </a:solidFill>
                        </a:rPr>
                        <a:t>its authorised tools or initiates any unbudgeted downstream commitment.</a:t>
                      </a:r>
                      <a:endParaRPr lang="en-US" sz="800" dirty="0">
                        <a:latin typeface="+mn-lt"/>
                      </a:endParaRPr>
                    </a:p>
                  </a:txBody>
                  <a:tcPr>
                    <a:solidFill>
                      <a:schemeClr val="accent1">
                        <a:lumMod val="20000"/>
                        <a:lumOff val="80000"/>
                      </a:schemeClr>
                    </a:solidFill>
                  </a:tcPr>
                </a:tc>
                <a:tc>
                  <a:txBody>
                    <a:bodyPr/>
                    <a:lstStyle/>
                    <a:p>
                      <a:pPr marL="177800" indent="-177800">
                        <a:lnSpc>
                          <a:spcPct val="100000"/>
                        </a:lnSpc>
                        <a:spcAft>
                          <a:spcPts val="800"/>
                        </a:spcAft>
                        <a:buSzPct val="100000"/>
                        <a:buChar char="•"/>
                      </a:pPr>
                      <a:r>
                        <a:rPr lang="en-US" sz="800" kern="1200" dirty="0">
                          <a:solidFill>
                            <a:schemeClr val="dk1"/>
                          </a:solidFill>
                        </a:rPr>
                        <a:t>No critical AI service may rely on a single third‑party provider without a documented exit/continuity plan and, where feasible, a fallback.</a:t>
                      </a:r>
                    </a:p>
                    <a:p>
                      <a:pPr marL="177800" indent="-177800">
                        <a:lnSpc>
                          <a:spcPct val="100000"/>
                        </a:lnSpc>
                        <a:spcAft>
                          <a:spcPts val="800"/>
                        </a:spcAft>
                        <a:buSzPct val="100000"/>
                        <a:buChar char="•"/>
                      </a:pPr>
                      <a:r>
                        <a:rPr lang="en-US" sz="800" kern="1200" dirty="0">
                          <a:solidFill>
                            <a:schemeClr val="dk1"/>
                          </a:solidFill>
                        </a:rPr>
                        <a:t>100% of material AI/ICT vendors must be mapped, assessed, and registered pre‑close; any unresolved change‑of‑control or non‑assignable license clause is a breach.</a:t>
                      </a:r>
                    </a:p>
                    <a:p>
                      <a:pPr marL="177800" indent="-177800">
                        <a:lnSpc>
                          <a:spcPct val="100000"/>
                        </a:lnSpc>
                        <a:spcAft>
                          <a:spcPts val="800"/>
                        </a:spcAft>
                        <a:buSzPct val="100000"/>
                        <a:buChar char="•"/>
                      </a:pPr>
                      <a:r>
                        <a:rPr lang="en-US" sz="800" kern="1200" dirty="0">
                          <a:solidFill>
                            <a:schemeClr val="dk1"/>
                          </a:solidFill>
                        </a:rPr>
                        <a:t>Concentration limit applies - escalate if any one provider supports more than the defined share of critical AI workloads.</a:t>
                      </a:r>
                      <a:endParaRPr lang="en-US" sz="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marL="177800" indent="-177800">
                        <a:lnSpc>
                          <a:spcPct val="100000"/>
                        </a:lnSpc>
                        <a:spcAft>
                          <a:spcPts val="800"/>
                        </a:spcAft>
                        <a:buSzPct val="100000"/>
                        <a:buChar char="•"/>
                      </a:pPr>
                      <a:r>
                        <a:rPr lang="en-US" sz="800" kern="1200" dirty="0">
                          <a:solidFill>
                            <a:srgbClr val="1B2138"/>
                          </a:solidFill>
                        </a:rPr>
                        <a:t>100% of production models (especially LumaCredit-EU) must have active performance and drift monitoring with defined thresholds; any unmonitored model is an immediate breach.</a:t>
                      </a:r>
                    </a:p>
                    <a:p>
                      <a:pPr marL="177800" indent="-177800">
                        <a:lnSpc>
                          <a:spcPct val="100000"/>
                        </a:lnSpc>
                        <a:spcAft>
                          <a:spcPts val="800"/>
                        </a:spcAft>
                        <a:buSzPct val="100000"/>
                        <a:buChar char="•"/>
                      </a:pPr>
                      <a:r>
                        <a:rPr lang="en-US" sz="800" kern="1200" dirty="0">
                          <a:solidFill>
                            <a:srgbClr val="1B2138"/>
                          </a:solidFill>
                        </a:rPr>
                        <a:t>Threshold breaches (e.g., PSI, accuracy, default rate, disparate impact) trigger review within a fixed SLA (e.g., 5 business days), with retraining/rollback as needed.</a:t>
                      </a:r>
                    </a:p>
                    <a:p>
                      <a:pPr marL="177800" indent="-177800">
                        <a:lnSpc>
                          <a:spcPct val="100000"/>
                        </a:lnSpc>
                        <a:spcAft>
                          <a:spcPts val="800"/>
                        </a:spcAft>
                        <a:buSzPct val="100000"/>
                        <a:buChar char="•"/>
                      </a:pPr>
                      <a:r>
                        <a:rPr lang="en-US" sz="800" kern="1200" dirty="0">
                          <a:solidFill>
                            <a:srgbClr val="1B2138"/>
                          </a:solidFill>
                        </a:rPr>
                        <a:t>Breach where drift detection is absent, ownership is unclear, or models become unmaintained (e.g., “orphaned” due to talent loss).</a:t>
                      </a:r>
                      <a:endParaRPr lang="en-US" sz="800" kern="1200" dirty="0">
                        <a:solidFill>
                          <a:srgbClr val="1B2138"/>
                        </a:solidFill>
                        <a:latin typeface="+mn-lt"/>
                        <a:ea typeface="Calibri" pitchFamily="34" charset="-122"/>
                        <a:cs typeface="Calibri" pitchFamily="34" charset="-120"/>
                      </a:endParaRPr>
                    </a:p>
                  </a:txBody>
                  <a:tcPr>
                    <a:solidFill>
                      <a:schemeClr val="accent1">
                        <a:lumMod val="20000"/>
                        <a:lumOff val="80000"/>
                      </a:schemeClr>
                    </a:solidFill>
                  </a:tcPr>
                </a:tc>
                <a:tc>
                  <a:txBody>
                    <a:bodyPr/>
                    <a:lstStyle/>
                    <a:p>
                      <a:pPr marL="177800" indent="-177800">
                        <a:lnSpc>
                          <a:spcPct val="100000"/>
                        </a:lnSpc>
                        <a:spcAft>
                          <a:spcPts val="800"/>
                        </a:spcAft>
                        <a:buSzPct val="100000"/>
                        <a:buChar char="•"/>
                      </a:pPr>
                      <a:r>
                        <a:rPr lang="en-US" sz="800" dirty="0"/>
                        <a:t>Mandatory blast‑radius controls (rate limits, canary rollout, kill‑switch) for customer‑impacting model changes </a:t>
                      </a:r>
                      <a:r>
                        <a:rPr lang="en-US" sz="800" dirty="0">
                          <a:solidFill>
                            <a:srgbClr val="1B2138"/>
                          </a:solidFill>
                        </a:rPr>
                        <a:t>(LumaAssist Chat, LumaCredit-EU)</a:t>
                      </a:r>
                      <a:r>
                        <a:rPr lang="en-US" sz="800" dirty="0"/>
                        <a:t>; absence is a breach.</a:t>
                      </a:r>
                    </a:p>
                    <a:p>
                      <a:pPr marL="177800" indent="-177800">
                        <a:lnSpc>
                          <a:spcPct val="100000"/>
                        </a:lnSpc>
                        <a:spcAft>
                          <a:spcPts val="800"/>
                        </a:spcAft>
                        <a:buSzPct val="100000"/>
                        <a:buChar char="•"/>
                      </a:pPr>
                      <a:r>
                        <a:rPr lang="en-US" sz="800" dirty="0"/>
                        <a:t>Systemic anomalies </a:t>
                      </a:r>
                      <a:r>
                        <a:rPr lang="en-US" sz="800" dirty="0">
                          <a:solidFill>
                            <a:srgbClr val="1B2138"/>
                          </a:solidFill>
                        </a:rPr>
                        <a:t>(e.g., mass mis-decisioning, data leakage via LumaAssist Chat) </a:t>
                      </a:r>
                      <a:r>
                        <a:rPr lang="en-US" sz="800" dirty="0"/>
                        <a:t>must be detectable and contained within a fixed SLA; exceeding it is a breach.</a:t>
                      </a:r>
                    </a:p>
                    <a:p>
                      <a:pPr marL="177800" indent="-177800">
                        <a:lnSpc>
                          <a:spcPct val="100000"/>
                        </a:lnSpc>
                        <a:spcAft>
                          <a:spcPts val="800"/>
                        </a:spcAft>
                        <a:buSzPct val="100000"/>
                        <a:buChar char="•"/>
                      </a:pPr>
                      <a:r>
                        <a:rPr lang="en-US" sz="800" dirty="0"/>
                        <a:t>Zero tolerance for full‑population deployment without prior limited‑population validation stage during integration.</a:t>
                      </a:r>
                      <a:endParaRPr lang="en-US" sz="800" dirty="0">
                        <a:latin typeface="+mn-lt"/>
                      </a:endParaRPr>
                    </a:p>
                  </a:txBody>
                  <a:tcPr>
                    <a:solidFill>
                      <a:schemeClr val="accent1">
                        <a:lumMod val="20000"/>
                        <a:lumOff val="80000"/>
                      </a:schemeClr>
                    </a:solidFill>
                  </a:tcPr>
                </a:tc>
                <a:extLst>
                  <a:ext uri="{0D108BD9-81ED-4DB2-BD59-A6C34878D82A}">
                    <a16:rowId xmlns:a16="http://schemas.microsoft.com/office/drawing/2014/main" val="2263258115"/>
                  </a:ext>
                </a:extLst>
              </a:tr>
              <a:tr h="5946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dirty="0">
                          <a:solidFill>
                            <a:schemeClr val="dk1"/>
                          </a:solidFill>
                        </a:rPr>
                        <a:t>Regulatory / Framework Anchor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i="1" kern="1200" dirty="0">
                          <a:solidFill>
                            <a:srgbClr val="1B2138"/>
                          </a:solidFill>
                          <a:latin typeface="+mn-lt"/>
                          <a:ea typeface="+mn-ea"/>
                          <a:cs typeface="+mn-cs"/>
                        </a:rPr>
                        <a:t>(specific article or clause that makes the position auditable)</a:t>
                      </a:r>
                    </a:p>
                  </a:txBody>
                  <a:tcPr anchor="ctr"/>
                </a:tc>
                <a:tc>
                  <a:txBody>
                    <a:bodyPr/>
                    <a:lstStyle/>
                    <a:p>
                      <a:pPr marL="171450" indent="-171450">
                        <a:buFont typeface="Arial" panose="020B0604020202020204" pitchFamily="34" charset="0"/>
                        <a:buChar char="•"/>
                      </a:pPr>
                      <a:r>
                        <a:rPr lang="en-GB" sz="800" kern="1200" dirty="0">
                          <a:solidFill>
                            <a:schemeClr val="dk1"/>
                          </a:solidFill>
                        </a:rPr>
                        <a:t>EU AI Act Art. 13 (transparency) and Art. 11 + Annex IV (technical documentation); </a:t>
                      </a:r>
                    </a:p>
                    <a:p>
                      <a:pPr marL="171450" indent="-171450">
                        <a:buFont typeface="Arial" panose="020B0604020202020204" pitchFamily="34" charset="0"/>
                        <a:buChar char="•"/>
                      </a:pPr>
                      <a:r>
                        <a:rPr lang="en-GB" sz="800" kern="1200" dirty="0">
                          <a:solidFill>
                            <a:schemeClr val="dk1"/>
                          </a:solidFill>
                        </a:rPr>
                        <a:t>GDPR Art. 22 and Recital 71 (right to meaningful information about automated decisions); </a:t>
                      </a:r>
                    </a:p>
                    <a:p>
                      <a:pPr marL="171450" indent="-171450">
                        <a:buFont typeface="Arial" panose="020B0604020202020204" pitchFamily="34" charset="0"/>
                        <a:buChar char="•"/>
                      </a:pPr>
                      <a:r>
                        <a:rPr lang="en-GB" sz="800" kern="1200" dirty="0">
                          <a:solidFill>
                            <a:schemeClr val="dk1"/>
                          </a:solidFill>
                        </a:rPr>
                        <a:t>FCA Consumer Duty (consumer understanding outcome); </a:t>
                      </a:r>
                    </a:p>
                    <a:p>
                      <a:pPr marL="171450" indent="-171450">
                        <a:buFont typeface="Arial" panose="020B0604020202020204" pitchFamily="34" charset="0"/>
                        <a:buChar char="•"/>
                      </a:pPr>
                      <a:r>
                        <a:rPr lang="en-GB" sz="800" kern="1200" dirty="0">
                          <a:solidFill>
                            <a:schemeClr val="dk1"/>
                          </a:solidFill>
                        </a:rPr>
                        <a:t>ISO/IEC 42001 Annex A controls on documentation</a:t>
                      </a:r>
                      <a:endParaRPr lang="en-GB" sz="800" kern="1200" dirty="0">
                        <a:solidFill>
                          <a:schemeClr val="dk1"/>
                        </a:solidFill>
                        <a:latin typeface="+mn-lt"/>
                        <a:ea typeface="+mn-ea"/>
                        <a:cs typeface="+mn-cs"/>
                      </a:endParaRPr>
                    </a:p>
                  </a:txBody>
                  <a:tcPr>
                    <a:solidFill>
                      <a:schemeClr val="accent1">
                        <a:lumMod val="40000"/>
                        <a:lumOff val="60000"/>
                      </a:schemeClr>
                    </a:solidFill>
                  </a:tcPr>
                </a:tc>
                <a:tc>
                  <a:txBody>
                    <a:bodyPr/>
                    <a:lstStyle/>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noProof="0" dirty="0">
                          <a:solidFill>
                            <a:schemeClr val="dk1"/>
                          </a:solidFill>
                        </a:rPr>
                        <a:t>EU AI Act Art. 14 (human oversight);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noProof="0" dirty="0">
                          <a:solidFill>
                            <a:schemeClr val="dk1"/>
                          </a:solidFill>
                        </a:rPr>
                        <a:t>NIST AI RMF MANAGE 1.x (risk treatment) and MAP for use-context;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noProof="0" dirty="0">
                          <a:solidFill>
                            <a:schemeClr val="dk1"/>
                          </a:solidFill>
                        </a:rPr>
                        <a:t>ISO/IEC 42001 operational controls;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noProof="0" dirty="0">
                          <a:solidFill>
                            <a:schemeClr val="dk1"/>
                          </a:solidFill>
                        </a:rPr>
                        <a:t>FCA Consumer Duty (avoiding foreseeable harm)</a:t>
                      </a:r>
                    </a:p>
                    <a:p>
                      <a:endParaRPr lang="en-GB" sz="900" b="1" i="1" kern="1200" dirty="0">
                        <a:solidFill>
                          <a:srgbClr val="1B2138"/>
                        </a:solidFill>
                        <a:latin typeface="Calibri" pitchFamily="34" charset="0"/>
                        <a:ea typeface="Calibri" pitchFamily="34" charset="-122"/>
                        <a:cs typeface="Calibri" pitchFamily="34" charset="-120"/>
                      </a:endParaRPr>
                    </a:p>
                  </a:txBody>
                  <a:tcPr>
                    <a:solidFill>
                      <a:schemeClr val="accent1">
                        <a:lumMod val="40000"/>
                        <a:lumOff val="60000"/>
                      </a:schemeClr>
                    </a:solidFill>
                  </a:tcPr>
                </a:tc>
                <a:tc>
                  <a:txBody>
                    <a:bodyPr/>
                    <a:lstStyle/>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noProof="0" dirty="0">
                          <a:solidFill>
                            <a:schemeClr val="dk1"/>
                          </a:solidFill>
                        </a:rPr>
                        <a:t>DORA (ICT third-party risk, register of information, critical-provider oversight, exit strategies);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noProof="0" dirty="0">
                          <a:solidFill>
                            <a:schemeClr val="dk1"/>
                          </a:solidFill>
                        </a:rPr>
                        <a:t>ISO/IEC 27036 (supplier relationships);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noProof="0" dirty="0">
                          <a:solidFill>
                            <a:schemeClr val="dk1"/>
                          </a:solidFill>
                        </a:rPr>
                        <a:t>EU AI Act provider / deployer value-chain obligations;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noProof="0" dirty="0">
                          <a:solidFill>
                            <a:schemeClr val="dk1"/>
                          </a:solidFill>
                        </a:rPr>
                        <a:t>NIST CSF Identify (asset &amp; supply-chain mapping)</a:t>
                      </a:r>
                    </a:p>
                    <a:p>
                      <a:endParaRPr lang="en-GB" sz="800" kern="1200" dirty="0">
                        <a:solidFill>
                          <a:schemeClr val="dk1"/>
                        </a:solidFill>
                        <a:latin typeface="+mn-lt"/>
                        <a:ea typeface="+mn-ea"/>
                        <a:cs typeface="+mn-cs"/>
                      </a:endParaRPr>
                    </a:p>
                  </a:txBody>
                  <a:tcPr>
                    <a:solidFill>
                      <a:schemeClr val="accent1">
                        <a:lumMod val="40000"/>
                        <a:lumOff val="60000"/>
                      </a:schemeClr>
                    </a:solidFill>
                  </a:tcPr>
                </a:tc>
                <a:tc>
                  <a:txBody>
                    <a:bodyPr/>
                    <a:lstStyle/>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dirty="0">
                          <a:solidFill>
                            <a:schemeClr val="dk1"/>
                          </a:solidFill>
                        </a:rPr>
                        <a:t>EU AI Act Art. 9 (continuous risk management) and Art. 72 (post-market monitoring);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dirty="0">
                          <a:solidFill>
                            <a:schemeClr val="dk1"/>
                          </a:solidFill>
                        </a:rPr>
                        <a:t>NIST AI RMF MEASURE (ongoing testing / monitoring);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dirty="0">
                          <a:solidFill>
                            <a:schemeClr val="dk1"/>
                          </a:solidFill>
                        </a:rPr>
                        <a:t>ISO/IEC 42001 lifecycle controls;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dirty="0">
                          <a:solidFill>
                            <a:schemeClr val="dk1"/>
                          </a:solidFill>
                        </a:rPr>
                        <a:t>ISO/IEC 5259 (data quality)</a:t>
                      </a:r>
                    </a:p>
                    <a:p>
                      <a:endParaRPr lang="en-GB" sz="900" b="1" i="1" kern="1200" dirty="0">
                        <a:solidFill>
                          <a:srgbClr val="1B2138"/>
                        </a:solidFill>
                        <a:latin typeface="Calibri" pitchFamily="34" charset="0"/>
                        <a:ea typeface="Calibri" pitchFamily="34" charset="-122"/>
                        <a:cs typeface="Calibri" pitchFamily="34" charset="-120"/>
                      </a:endParaRPr>
                    </a:p>
                  </a:txBody>
                  <a:tcPr>
                    <a:solidFill>
                      <a:schemeClr val="accent1">
                        <a:lumMod val="40000"/>
                        <a:lumOff val="60000"/>
                      </a:schemeClr>
                    </a:solidFill>
                  </a:tcPr>
                </a:tc>
                <a:tc>
                  <a:txBody>
                    <a:bodyPr/>
                    <a:lstStyle/>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dirty="0">
                          <a:solidFill>
                            <a:schemeClr val="dk1"/>
                          </a:solidFill>
                        </a:rPr>
                        <a:t>NIST CSF Detect &amp; Respond functions;</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dirty="0">
                          <a:solidFill>
                            <a:schemeClr val="dk1"/>
                          </a:solidFill>
                        </a:rPr>
                        <a:t>MITRE ATLAS (adversarial ML tactics, esp. LumaAssist Chat);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dirty="0">
                          <a:solidFill>
                            <a:schemeClr val="dk1"/>
                          </a:solidFill>
                        </a:rPr>
                        <a:t>OWASP LLM Top 10 (prompt injection, output handling);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dirty="0">
                          <a:solidFill>
                            <a:schemeClr val="dk1"/>
                          </a:solidFill>
                        </a:rPr>
                        <a:t>EU AI Act Art. 9 (treatment proportionate to scale of harm); </a:t>
                      </a:r>
                    </a:p>
                    <a:p>
                      <a:pPr marL="171450" marR="0" lvl="0" indent="-171450" algn="l" defTabSz="914400" rtl="0" eaLnBrk="1" fontAlgn="auto" latinLnBrk="0" hangingPunct="1">
                        <a:lnSpc>
                          <a:spcPct val="102000"/>
                        </a:lnSpc>
                        <a:spcBef>
                          <a:spcPts val="0"/>
                        </a:spcBef>
                        <a:spcAft>
                          <a:spcPts val="0"/>
                        </a:spcAft>
                        <a:buClrTx/>
                        <a:buSzTx/>
                        <a:buFont typeface="Arial" panose="020B0604020202020204" pitchFamily="34" charset="0"/>
                        <a:buChar char="•"/>
                        <a:tabLst/>
                        <a:defRPr/>
                      </a:pPr>
                      <a:r>
                        <a:rPr lang="en-US" sz="800" kern="1200" dirty="0">
                          <a:solidFill>
                            <a:schemeClr val="dk1"/>
                          </a:solidFill>
                        </a:rPr>
                        <a:t>DORA operational-resilience testing</a:t>
                      </a:r>
                      <a:endParaRPr lang="en-GB" sz="800" kern="1200" dirty="0">
                        <a:solidFill>
                          <a:schemeClr val="dk1"/>
                        </a:solidFill>
                        <a:latin typeface="+mn-lt"/>
                        <a:ea typeface="+mn-ea"/>
                        <a:cs typeface="+mn-cs"/>
                      </a:endParaRPr>
                    </a:p>
                  </a:txBody>
                  <a:tcPr>
                    <a:solidFill>
                      <a:schemeClr val="accent1">
                        <a:lumMod val="40000"/>
                        <a:lumOff val="60000"/>
                      </a:schemeClr>
                    </a:solidFill>
                  </a:tcPr>
                </a:tc>
                <a:extLst>
                  <a:ext uri="{0D108BD9-81ED-4DB2-BD59-A6C34878D82A}">
                    <a16:rowId xmlns:a16="http://schemas.microsoft.com/office/drawing/2014/main" val="3018540197"/>
                  </a:ext>
                </a:extLst>
              </a:tr>
              <a:tr h="594651">
                <a:tc>
                  <a:txBody>
                    <a:bodyPr/>
                    <a:lstStyle/>
                    <a:p>
                      <a:pPr marL="0" algn="ctr" defTabSz="914400" rtl="0" eaLnBrk="1" latinLnBrk="0" hangingPunct="1"/>
                      <a:r>
                        <a:rPr lang="en-US" sz="900" b="1" kern="1200" dirty="0">
                          <a:solidFill>
                            <a:schemeClr val="dk1"/>
                          </a:solidFill>
                        </a:rPr>
                        <a:t>Defensible Rationale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i="1" kern="1200" dirty="0">
                          <a:solidFill>
                            <a:srgbClr val="1B2138"/>
                          </a:solidFill>
                          <a:latin typeface="+mn-lt"/>
                          <a:ea typeface="+mn-ea"/>
                          <a:cs typeface="+mn-cs"/>
                        </a:rPr>
                        <a:t>(reason why regulator may accept the posture)</a:t>
                      </a:r>
                      <a:endParaRPr lang="en-GB" sz="800" i="1" kern="1200" dirty="0">
                        <a:solidFill>
                          <a:srgbClr val="1B2138"/>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i="0" kern="1200" dirty="0">
                          <a:solidFill>
                            <a:srgbClr val="1B2138"/>
                          </a:solidFill>
                          <a:latin typeface="+mn-lt"/>
                          <a:ea typeface="+mn-ea"/>
                          <a:cs typeface="+mn-cs"/>
                        </a:rPr>
                        <a:t>Regulators require explainability for Annex III credit systems; opacity cannot be justified by model complexity. Tying transparency to decision impact aligns with legal risk tiers, while a 5% carve‑out allows limited, non‑regulated opacity.</a:t>
                      </a:r>
                      <a:endParaRPr lang="en-GB" sz="800" i="0" kern="1200" dirty="0">
                        <a:solidFill>
                          <a:srgbClr val="1B2138"/>
                        </a:solidFill>
                        <a:latin typeface="+mn-lt"/>
                        <a:ea typeface="+mn-ea"/>
                        <a:cs typeface="+mn-cs"/>
                      </a:endParaRP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i="0" kern="1200" dirty="0">
                          <a:solidFill>
                            <a:srgbClr val="1B2138"/>
                          </a:solidFill>
                          <a:latin typeface="+mn-lt"/>
                          <a:ea typeface="+mn-ea"/>
                          <a:cs typeface="+mn-cs"/>
                        </a:rPr>
                        <a:t>Autonomy controls are least mature, so a conservative, evidence‑based, gated approach is required. Treat autonomy as earned through staged approval—aligning with Art. 14—enabling value without open‑ended liability.</a:t>
                      </a:r>
                      <a:endParaRPr lang="en-GB" sz="800" i="0" kern="1200" dirty="0">
                        <a:solidFill>
                          <a:srgbClr val="1B2138"/>
                        </a:solidFill>
                        <a:latin typeface="+mn-lt"/>
                        <a:ea typeface="+mn-ea"/>
                        <a:cs typeface="+mn-cs"/>
                      </a:endParaRP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i="0" kern="1200" dirty="0">
                          <a:solidFill>
                            <a:srgbClr val="1B2138"/>
                          </a:solidFill>
                          <a:latin typeface="+mn-lt"/>
                          <a:ea typeface="+mn-ea"/>
                          <a:cs typeface="+mn-cs"/>
                        </a:rPr>
                        <a:t>DORA requires strict third‑party concentration controls and exit planning, making quantified limits and fallback plans essential. Identifying and resolving change‑of‑control risks pre‑close is critical to effective M&amp;A diligence.</a:t>
                      </a:r>
                      <a:endParaRPr lang="en-GB" sz="800" i="0" kern="1200" dirty="0">
                        <a:solidFill>
                          <a:srgbClr val="1B2138"/>
                        </a:solidFill>
                        <a:latin typeface="+mn-lt"/>
                        <a:ea typeface="+mn-ea"/>
                        <a:cs typeface="+mn-cs"/>
                      </a:endParaRP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i="0" kern="1200" dirty="0">
                          <a:solidFill>
                            <a:srgbClr val="1B2138"/>
                          </a:solidFill>
                          <a:latin typeface="+mn-lt"/>
                          <a:ea typeface="+mn-ea"/>
                          <a:cs typeface="+mn-cs"/>
                        </a:rPr>
                        <a:t>Art. 9 and Art. 72 require continuous lifecycle risk management and post‑market monitoring. Allowing controlled, bounded drift—but prohibiting silent drift—aligns with this, while linking to “orphaned models / talent flight” shows the operational risk, not just the metric.</a:t>
                      </a:r>
                      <a:endParaRPr lang="en-GB" sz="800" i="0" kern="1200" dirty="0">
                        <a:solidFill>
                          <a:srgbClr val="1B2138"/>
                        </a:solidFill>
                        <a:latin typeface="+mn-lt"/>
                        <a:ea typeface="+mn-ea"/>
                        <a:cs typeface="+mn-cs"/>
                      </a:endParaRP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i="0" kern="1200" dirty="0">
                          <a:solidFill>
                            <a:srgbClr val="1B2138"/>
                          </a:solidFill>
                          <a:latin typeface="+mn-lt"/>
                          <a:ea typeface="+mn-ea"/>
                          <a:cs typeface="+mn-cs"/>
                        </a:rPr>
                        <a:t>Scale asymmetry turns minor errors into systemic risks during integration. Regulators expect containment (e.g., staged rollout, kill‑switch, bounded blast radius), so defining tolerance via a containment SLA—not “no errors”—is both realistic and auditable.</a:t>
                      </a:r>
                      <a:endParaRPr lang="en-GB" sz="800" i="0" kern="1200" dirty="0">
                        <a:solidFill>
                          <a:srgbClr val="1B2138"/>
                        </a:solidFill>
                        <a:latin typeface="+mn-lt"/>
                        <a:ea typeface="+mn-ea"/>
                        <a:cs typeface="+mn-cs"/>
                      </a:endParaRPr>
                    </a:p>
                  </a:txBody>
                  <a:tcPr>
                    <a:solidFill>
                      <a:schemeClr val="accent1">
                        <a:lumMod val="20000"/>
                        <a:lumOff val="80000"/>
                      </a:schemeClr>
                    </a:solidFill>
                  </a:tcPr>
                </a:tc>
                <a:extLst>
                  <a:ext uri="{0D108BD9-81ED-4DB2-BD59-A6C34878D82A}">
                    <a16:rowId xmlns:a16="http://schemas.microsoft.com/office/drawing/2014/main" val="2740914099"/>
                  </a:ext>
                </a:extLst>
              </a:tr>
            </a:tbl>
          </a:graphicData>
        </a:graphic>
      </p:graphicFrame>
    </p:spTree>
    <p:extLst>
      <p:ext uri="{BB962C8B-B14F-4D97-AF65-F5344CB8AC3E}">
        <p14:creationId xmlns:p14="http://schemas.microsoft.com/office/powerpoint/2010/main" val="271057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marL="0" indent="0">
              <a:buNone/>
            </a:pPr>
            <a:r>
              <a:rPr lang="en-US" sz="3200" b="1" dirty="0">
                <a:solidFill>
                  <a:srgbClr val="1E2761"/>
                </a:solidFill>
                <a:latin typeface="Trebuchet MS" pitchFamily="34" charset="0"/>
                <a:ea typeface="Trebuchet MS" pitchFamily="34" charset="-122"/>
                <a:cs typeface="Trebuchet MS" pitchFamily="34" charset="-120"/>
              </a:rPr>
              <a:t>Risk Appetite at a Glance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499895418"/>
              </p:ext>
            </p:extLst>
          </p:nvPr>
        </p:nvGraphicFramePr>
        <p:xfrm>
          <a:off x="563880" y="1166118"/>
          <a:ext cx="10874746" cy="4975887"/>
        </p:xfrm>
        <a:graphic>
          <a:graphicData uri="http://schemas.openxmlformats.org/drawingml/2006/table">
            <a:tbl>
              <a:tblPr/>
              <a:tblGrid>
                <a:gridCol w="2246848">
                  <a:extLst>
                    <a:ext uri="{9D8B030D-6E8A-4147-A177-3AD203B41FA5}">
                      <a16:colId xmlns:a16="http://schemas.microsoft.com/office/drawing/2014/main" val="20000"/>
                    </a:ext>
                  </a:extLst>
                </a:gridCol>
                <a:gridCol w="1437983">
                  <a:extLst>
                    <a:ext uri="{9D8B030D-6E8A-4147-A177-3AD203B41FA5}">
                      <a16:colId xmlns:a16="http://schemas.microsoft.com/office/drawing/2014/main" val="20001"/>
                    </a:ext>
                  </a:extLst>
                </a:gridCol>
                <a:gridCol w="4134201">
                  <a:extLst>
                    <a:ext uri="{9D8B030D-6E8A-4147-A177-3AD203B41FA5}">
                      <a16:colId xmlns:a16="http://schemas.microsoft.com/office/drawing/2014/main" val="20002"/>
                    </a:ext>
                  </a:extLst>
                </a:gridCol>
                <a:gridCol w="3055714">
                  <a:extLst>
                    <a:ext uri="{9D8B030D-6E8A-4147-A177-3AD203B41FA5}">
                      <a16:colId xmlns:a16="http://schemas.microsoft.com/office/drawing/2014/main" val="20003"/>
                    </a:ext>
                  </a:extLst>
                </a:gridCol>
              </a:tblGrid>
              <a:tr h="565442">
                <a:tc>
                  <a:txBody>
                    <a:bodyPr/>
                    <a:lstStyle/>
                    <a:p>
                      <a:pPr marL="0" indent="0" algn="l">
                        <a:buNone/>
                      </a:pPr>
                      <a:r>
                        <a:rPr lang="en-US" sz="1300" b="1" kern="1200" dirty="0">
                          <a:solidFill>
                            <a:srgbClr val="FFFFFF"/>
                          </a:solidFill>
                          <a:latin typeface="Trebuchet MS" pitchFamily="34" charset="0"/>
                          <a:ea typeface="Calibri" pitchFamily="34" charset="-122"/>
                          <a:cs typeface="Calibri" pitchFamily="34" charset="-120"/>
                        </a:rPr>
                        <a:t>Substrate </a:t>
                      </a:r>
                      <a:r>
                        <a:rPr lang="en-US" sz="1300" b="1" kern="1200" dirty="0">
                          <a:solidFill>
                            <a:srgbClr val="FFFFFF"/>
                          </a:solidFill>
                          <a:latin typeface="Trebuchet MS" pitchFamily="34" charset="0"/>
                          <a:ea typeface="Trebuchet MS" pitchFamily="34" charset="-122"/>
                          <a:cs typeface="Trebuchet MS" pitchFamily="34" charset="-120"/>
                        </a:rPr>
                        <a:t>Property</a:t>
                      </a:r>
                      <a:endParaRPr lang="en-US" sz="1300" b="1" kern="1200" dirty="0">
                        <a:solidFill>
                          <a:srgbClr val="FFFFFF"/>
                        </a:solidFill>
                        <a:latin typeface="Trebuchet MS" pitchFamily="34" charset="0"/>
                        <a:ea typeface="Trebuchet MS" charset="0"/>
                        <a:cs typeface="Trebuchet MS"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Appetite</a:t>
                      </a:r>
                      <a:endParaRPr lang="en-US" sz="1300" dirty="0">
                        <a:latin typeface="Trebuchet MS" charset="0"/>
                        <a:ea typeface="Trebuchet MS" charset="0"/>
                        <a:cs typeface="Trebuchet MS"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Hard breach trigger</a:t>
                      </a:r>
                      <a:endParaRPr lang="en-US" sz="1300" dirty="0">
                        <a:latin typeface="Trebuchet MS" charset="0"/>
                        <a:ea typeface="Trebuchet MS" charset="0"/>
                        <a:cs typeface="Trebuchet MS"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Primary anchor</a:t>
                      </a:r>
                      <a:endParaRPr lang="en-US" sz="1300" dirty="0">
                        <a:latin typeface="Trebuchet MS" charset="0"/>
                        <a:ea typeface="Trebuchet MS" charset="0"/>
                        <a:cs typeface="Trebuchet MS"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882089">
                <a:tc>
                  <a:txBody>
                    <a:bodyPr/>
                    <a:lstStyle/>
                    <a:p>
                      <a:pPr marL="0" indent="0" algn="l">
                        <a:buNone/>
                      </a:pPr>
                      <a:r>
                        <a:rPr lang="en-US" sz="1250" b="1" dirty="0">
                          <a:solidFill>
                            <a:srgbClr val="1E2761"/>
                          </a:solidFill>
                          <a:latin typeface="Calibri" pitchFamily="34" charset="0"/>
                          <a:ea typeface="Calibri" pitchFamily="34" charset="-122"/>
                          <a:cs typeface="Calibri" pitchFamily="34" charset="-120"/>
                        </a:rPr>
                        <a:t>Opacity</a:t>
                      </a:r>
                      <a:endParaRPr lang="en-US" sz="125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E8A33D"/>
                    </a:solidFill>
                  </a:tcPr>
                </a:tc>
                <a:tc>
                  <a:txBody>
                    <a:bodyPr/>
                    <a:lstStyle/>
                    <a:p>
                      <a:pPr marL="0" indent="0" algn="l">
                        <a:buNone/>
                      </a:pPr>
                      <a:r>
                        <a:rPr lang="en-US" sz="1150" dirty="0">
                          <a:solidFill>
                            <a:srgbClr val="1B2138"/>
                          </a:solidFill>
                          <a:latin typeface="Calibri" pitchFamily="34" charset="0"/>
                          <a:ea typeface="Calibri" pitchFamily="34" charset="-122"/>
                          <a:cs typeface="Calibri" pitchFamily="34" charset="-120"/>
                        </a:rPr>
                        <a:t>Unexplained Annex III decision in production</a:t>
                      </a:r>
                      <a:endParaRPr lang="en-US" sz="115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tc>
                  <a:txBody>
                    <a:bodyPr/>
                    <a:lstStyle/>
                    <a:p>
                      <a:pPr marL="0" indent="0" algn="l">
                        <a:buNone/>
                      </a:pPr>
                      <a:r>
                        <a:rPr lang="en-US" sz="1100" i="1" dirty="0">
                          <a:solidFill>
                            <a:srgbClr val="1B2138"/>
                          </a:solidFill>
                          <a:latin typeface="Calibri" pitchFamily="34" charset="0"/>
                          <a:ea typeface="Calibri" pitchFamily="34" charset="-122"/>
                          <a:cs typeface="Calibri" pitchFamily="34" charset="-120"/>
                        </a:rPr>
                        <a:t>EU AI Act Art. 13; GDPR Art. 22</a:t>
                      </a:r>
                      <a:endParaRPr lang="en-US" sz="110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82089">
                <a:tc>
                  <a:txBody>
                    <a:bodyPr/>
                    <a:lstStyle/>
                    <a:p>
                      <a:pPr marL="0" indent="0" algn="l">
                        <a:buNone/>
                      </a:pPr>
                      <a:r>
                        <a:rPr lang="en-US" sz="1250" b="1" dirty="0">
                          <a:solidFill>
                            <a:srgbClr val="1E2761"/>
                          </a:solidFill>
                          <a:latin typeface="Calibri" pitchFamily="34" charset="0"/>
                          <a:ea typeface="Calibri" pitchFamily="34" charset="-122"/>
                          <a:cs typeface="Calibri" pitchFamily="34" charset="-120"/>
                        </a:rPr>
                        <a:t>Autonomy</a:t>
                      </a:r>
                      <a:endParaRPr lang="en-US" sz="125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Very low</a:t>
                      </a:r>
                      <a:endParaRPr lang="en-US" sz="120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E05260"/>
                    </a:solidFill>
                  </a:tcPr>
                </a:tc>
                <a:tc>
                  <a:txBody>
                    <a:bodyPr/>
                    <a:lstStyle/>
                    <a:p>
                      <a:pPr marL="0" indent="0" algn="l">
                        <a:buNone/>
                      </a:pPr>
                      <a:r>
                        <a:rPr lang="en-US" sz="1150" dirty="0">
                          <a:solidFill>
                            <a:srgbClr val="1B2138"/>
                          </a:solidFill>
                          <a:latin typeface="Calibri" pitchFamily="34" charset="0"/>
                          <a:ea typeface="Calibri" pitchFamily="34" charset="-122"/>
                          <a:cs typeface="Calibri" pitchFamily="34" charset="-120"/>
                        </a:rPr>
                        <a:t>Action outside sanctioned scope / autonomous adverse decision</a:t>
                      </a:r>
                      <a:endParaRPr lang="en-US" sz="115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tc>
                  <a:txBody>
                    <a:bodyPr/>
                    <a:lstStyle/>
                    <a:p>
                      <a:pPr marL="0" indent="0" algn="l">
                        <a:buNone/>
                      </a:pPr>
                      <a:r>
                        <a:rPr lang="en-US" sz="1100" i="1" dirty="0">
                          <a:solidFill>
                            <a:srgbClr val="1B2138"/>
                          </a:solidFill>
                          <a:latin typeface="Calibri" pitchFamily="34" charset="0"/>
                          <a:ea typeface="Calibri" pitchFamily="34" charset="-122"/>
                          <a:cs typeface="Calibri" pitchFamily="34" charset="-120"/>
                        </a:rPr>
                        <a:t>EU AI Act Art. 14; NIST AI RMF MANAGE</a:t>
                      </a:r>
                      <a:endParaRPr lang="en-US" sz="110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82089">
                <a:tc>
                  <a:txBody>
                    <a:bodyPr/>
                    <a:lstStyle/>
                    <a:p>
                      <a:pPr marL="0" indent="0" algn="l">
                        <a:buNone/>
                      </a:pPr>
                      <a:r>
                        <a:rPr lang="en-US" sz="1250" b="1" dirty="0">
                          <a:solidFill>
                            <a:srgbClr val="1E2761"/>
                          </a:solidFill>
                          <a:latin typeface="Calibri" pitchFamily="34" charset="0"/>
                          <a:ea typeface="Calibri" pitchFamily="34" charset="-122"/>
                          <a:cs typeface="Calibri" pitchFamily="34" charset="-120"/>
                        </a:rPr>
                        <a:t>Dependency</a:t>
                      </a:r>
                      <a:endParaRPr lang="en-US" sz="125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Moderate</a:t>
                      </a:r>
                      <a:endParaRPr lang="en-US" sz="120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3FB984"/>
                    </a:solidFill>
                  </a:tcPr>
                </a:tc>
                <a:tc>
                  <a:txBody>
                    <a:bodyPr/>
                    <a:lstStyle/>
                    <a:p>
                      <a:pPr marL="0" indent="0" algn="l">
                        <a:buNone/>
                      </a:pPr>
                      <a:r>
                        <a:rPr lang="en-US" sz="1150" dirty="0">
                          <a:solidFill>
                            <a:srgbClr val="1B2138"/>
                          </a:solidFill>
                          <a:latin typeface="Calibri" pitchFamily="34" charset="0"/>
                          <a:ea typeface="Calibri" pitchFamily="34" charset="-122"/>
                          <a:cs typeface="Calibri" pitchFamily="34" charset="-120"/>
                        </a:rPr>
                        <a:t>Unresolved change-of-control clause; no exit plan</a:t>
                      </a:r>
                      <a:endParaRPr lang="en-US" sz="115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tc>
                  <a:txBody>
                    <a:bodyPr/>
                    <a:lstStyle/>
                    <a:p>
                      <a:pPr marL="0" indent="0" algn="l">
                        <a:buNone/>
                      </a:pPr>
                      <a:r>
                        <a:rPr lang="en-US" sz="1100" i="1" dirty="0">
                          <a:solidFill>
                            <a:srgbClr val="1B2138"/>
                          </a:solidFill>
                          <a:latin typeface="Calibri" pitchFamily="34" charset="0"/>
                          <a:ea typeface="Calibri" pitchFamily="34" charset="-122"/>
                          <a:cs typeface="Calibri" pitchFamily="34" charset="-120"/>
                        </a:rPr>
                        <a:t>DORA; ISO/IEC 27036</a:t>
                      </a:r>
                      <a:endParaRPr lang="en-US" sz="110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82089">
                <a:tc>
                  <a:txBody>
                    <a:bodyPr/>
                    <a:lstStyle/>
                    <a:p>
                      <a:pPr marL="0" indent="0" algn="l">
                        <a:buNone/>
                      </a:pPr>
                      <a:r>
                        <a:rPr lang="en-US" sz="1250" b="1" dirty="0">
                          <a:solidFill>
                            <a:srgbClr val="1E2761"/>
                          </a:solidFill>
                          <a:latin typeface="Calibri" pitchFamily="34" charset="0"/>
                          <a:ea typeface="Calibri" pitchFamily="34" charset="-122"/>
                          <a:cs typeface="Calibri" pitchFamily="34" charset="-120"/>
                        </a:rPr>
                        <a:t>Drift</a:t>
                      </a:r>
                      <a:endParaRPr lang="en-US" sz="125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E8A33D"/>
                    </a:solidFill>
                  </a:tcPr>
                </a:tc>
                <a:tc>
                  <a:txBody>
                    <a:bodyPr/>
                    <a:lstStyle/>
                    <a:p>
                      <a:pPr marL="0" indent="0" algn="l">
                        <a:buNone/>
                      </a:pPr>
                      <a:r>
                        <a:rPr lang="en-US" sz="1150" dirty="0">
                          <a:solidFill>
                            <a:srgbClr val="1B2138"/>
                          </a:solidFill>
                          <a:latin typeface="Calibri" pitchFamily="34" charset="0"/>
                          <a:ea typeface="Calibri" pitchFamily="34" charset="-122"/>
                          <a:cs typeface="Calibri" pitchFamily="34" charset="-120"/>
                        </a:rPr>
                        <a:t>Unmonitored production model</a:t>
                      </a:r>
                      <a:endParaRPr lang="en-US" sz="115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tc>
                  <a:txBody>
                    <a:bodyPr/>
                    <a:lstStyle/>
                    <a:p>
                      <a:pPr marL="0" indent="0" algn="l">
                        <a:buNone/>
                      </a:pPr>
                      <a:r>
                        <a:rPr lang="en-US" sz="1100" i="1" dirty="0">
                          <a:solidFill>
                            <a:srgbClr val="1B2138"/>
                          </a:solidFill>
                          <a:latin typeface="Calibri" pitchFamily="34" charset="0"/>
                          <a:ea typeface="Calibri" pitchFamily="34" charset="-122"/>
                          <a:cs typeface="Calibri" pitchFamily="34" charset="-120"/>
                        </a:rPr>
                        <a:t>EU AI Act Art. 9 &amp; 72; NIST MEASURE</a:t>
                      </a:r>
                      <a:endParaRPr lang="en-US" sz="110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82089">
                <a:tc>
                  <a:txBody>
                    <a:bodyPr/>
                    <a:lstStyle/>
                    <a:p>
                      <a:pPr marL="0" indent="0" algn="l">
                        <a:buNone/>
                      </a:pPr>
                      <a:r>
                        <a:rPr lang="en-US" sz="1250" b="1" dirty="0">
                          <a:solidFill>
                            <a:srgbClr val="1E2761"/>
                          </a:solidFill>
                          <a:latin typeface="Calibri" pitchFamily="34" charset="0"/>
                          <a:ea typeface="Calibri" pitchFamily="34" charset="-122"/>
                          <a:cs typeface="Calibri" pitchFamily="34" charset="-120"/>
                        </a:rPr>
                        <a:t>Scale asymmetry</a:t>
                      </a:r>
                      <a:endParaRPr lang="en-US" sz="125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Very low</a:t>
                      </a:r>
                      <a:endParaRPr lang="en-US" sz="120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E05260"/>
                    </a:solidFill>
                  </a:tcPr>
                </a:tc>
                <a:tc>
                  <a:txBody>
                    <a:bodyPr/>
                    <a:lstStyle/>
                    <a:p>
                      <a:pPr marL="0" indent="0" algn="l">
                        <a:buNone/>
                      </a:pPr>
                      <a:r>
                        <a:rPr lang="en-US" sz="1150" dirty="0">
                          <a:solidFill>
                            <a:srgbClr val="1B2138"/>
                          </a:solidFill>
                          <a:latin typeface="Calibri" pitchFamily="34" charset="0"/>
                          <a:ea typeface="Calibri" pitchFamily="34" charset="-122"/>
                          <a:cs typeface="Calibri" pitchFamily="34" charset="-120"/>
                        </a:rPr>
                        <a:t>Full-population deploy without staged validation</a:t>
                      </a:r>
                      <a:endParaRPr lang="en-US" sz="115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tc>
                  <a:txBody>
                    <a:bodyPr/>
                    <a:lstStyle/>
                    <a:p>
                      <a:pPr marL="0" indent="0" algn="l">
                        <a:buNone/>
                      </a:pPr>
                      <a:r>
                        <a:rPr lang="en-US" sz="1100" i="1" dirty="0">
                          <a:solidFill>
                            <a:srgbClr val="1B2138"/>
                          </a:solidFill>
                          <a:latin typeface="Calibri" pitchFamily="34" charset="0"/>
                          <a:ea typeface="Calibri" pitchFamily="34" charset="-122"/>
                          <a:cs typeface="Calibri" pitchFamily="34" charset="-120"/>
                        </a:rPr>
                        <a:t>NIST CSF Detect/Respond; OWASP LLM Top 10</a:t>
                      </a:r>
                      <a:endParaRPr lang="en-US" sz="1100" dirty="0">
                        <a:latin typeface="Calibri" charset="0"/>
                        <a:ea typeface="Calibri" charset="0"/>
                        <a:cs typeface="Calibri" charset="0"/>
                      </a:endParaRPr>
                    </a:p>
                  </a:txBody>
                  <a:tcPr marL="101600" marR="101600" marT="50800" marB="50800" anchor="ctr">
                    <a:lnL w="12700" cap="flat" cmpd="sng" algn="ctr">
                      <a:solidFill>
                        <a:srgbClr val="E4E7F4"/>
                      </a:solidFill>
                      <a:prstDash val="solid"/>
                      <a:round/>
                      <a:headEnd type="none" w="med" len="med"/>
                      <a:tailEnd type="none" w="med" len="med"/>
                    </a:lnL>
                    <a:lnR w="12700" cap="flat" cmpd="sng" algn="ctr">
                      <a:solidFill>
                        <a:srgbClr val="E4E7F4"/>
                      </a:solidFill>
                      <a:prstDash val="solid"/>
                      <a:round/>
                      <a:headEnd type="none" w="med" len="med"/>
                      <a:tailEnd type="none" w="med" len="med"/>
                    </a:lnR>
                    <a:lnT w="12700" cap="flat" cmpd="sng" algn="ctr">
                      <a:solidFill>
                        <a:srgbClr val="E4E7F4"/>
                      </a:solidFill>
                      <a:prstDash val="solid"/>
                      <a:round/>
                      <a:headEnd type="none" w="med" len="med"/>
                      <a:tailEnd type="none" w="med" len="med"/>
                    </a:lnT>
                    <a:lnB w="12700" cap="flat" cmpd="sng" algn="ctr">
                      <a:solidFill>
                        <a:srgbClr val="E4E7F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6"/>
          <p:cNvSpPr/>
          <p:nvPr/>
        </p:nvSpPr>
        <p:spPr>
          <a:xfrm>
            <a:off x="11247120" y="6492240"/>
            <a:ext cx="365760" cy="256032"/>
          </a:xfrm>
          <a:prstGeom prst="rect">
            <a:avLst/>
          </a:prstGeom>
          <a:noFill/>
          <a:ln/>
        </p:spPr>
        <p:txBody>
          <a:bodyPr wrap="square" lIns="0" tIns="0" rIns="0" bIns="0" rtlCol="0" anchor="ctr"/>
          <a:lstStyle/>
          <a:p>
            <a:pPr marL="0" indent="0" algn="r">
              <a:buNone/>
            </a:pPr>
            <a:r>
              <a:rPr lang="en-US" sz="850" dirty="0">
                <a:solidFill>
                  <a:srgbClr val="5A6178"/>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1296</Words>
  <Application>Microsoft Office PowerPoint</Application>
  <PresentationFormat>Widescreen</PresentationFormat>
  <Paragraphs>96</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Trebuchet MS</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Deliverable A — AI Risk Appetite &amp; Tolerance</dc:title>
  <dc:subject>PptxGenJS Presentation</dc:subject>
  <dc:creator>Nordhaven–LumaPay AI Risk Taskforce</dc:creator>
  <cp:lastModifiedBy>Akanksha Mohan</cp:lastModifiedBy>
  <cp:revision>2</cp:revision>
  <dcterms:created xsi:type="dcterms:W3CDTF">2026-06-02T12:03:31Z</dcterms:created>
  <dcterms:modified xsi:type="dcterms:W3CDTF">2026-06-02T13:36:33Z</dcterms:modified>
</cp:coreProperties>
</file>