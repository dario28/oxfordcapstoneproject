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0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1401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95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1097280"/>
            <a:ext cx="8229600" cy="320040"/>
          </a:xfrm>
          <a:prstGeom prst="rect">
            <a:avLst/>
          </a:prstGeom>
          <a:noFill/>
          <a:ln/>
        </p:spPr>
        <p:txBody>
          <a:bodyPr wrap="square" rtlCol="0" anchor="ctr"/>
          <a:lstStyle/>
          <a:p>
            <a:pPr marL="0" indent="0" algn="l">
              <a:buNone/>
            </a:pPr>
            <a:r>
              <a:rPr lang="en-US" sz="1100" kern="0" spc="400" dirty="0">
                <a:solidFill>
                  <a:srgbClr val="D6E4F7"/>
                </a:solidFill>
              </a:rPr>
              <a:t>DELIVERABLE A  ·  BOARD-LEVEL PACK</a:t>
            </a:r>
            <a:endParaRPr lang="en-US" sz="1100" dirty="0"/>
          </a:p>
        </p:txBody>
      </p:sp>
      <p:sp>
        <p:nvSpPr>
          <p:cNvPr id="4" name="Text 2"/>
          <p:cNvSpPr/>
          <p:nvPr/>
        </p:nvSpPr>
        <p:spPr>
          <a:xfrm>
            <a:off x="457200" y="1508760"/>
            <a:ext cx="8229600" cy="1005840"/>
          </a:xfrm>
          <a:prstGeom prst="rect">
            <a:avLst/>
          </a:prstGeom>
          <a:noFill/>
          <a:ln/>
        </p:spPr>
        <p:txBody>
          <a:bodyPr wrap="square"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Governance &amp; Standards</a:t>
            </a:r>
            <a:endParaRPr lang="en-US" sz="4400" dirty="0"/>
          </a:p>
        </p:txBody>
      </p:sp>
      <p:sp>
        <p:nvSpPr>
          <p:cNvPr id="5" name="Text 3"/>
          <p:cNvSpPr/>
          <p:nvPr/>
        </p:nvSpPr>
        <p:spPr>
          <a:xfrm>
            <a:off x="457200" y="2560320"/>
            <a:ext cx="8229600" cy="365760"/>
          </a:xfrm>
          <a:prstGeom prst="rect">
            <a:avLst/>
          </a:prstGeom>
          <a:noFill/>
          <a:ln/>
        </p:spPr>
        <p:txBody>
          <a:bodyPr wrap="square" rtlCol="0" anchor="ctr"/>
          <a:lstStyle/>
          <a:p>
            <a:pPr marL="0" indent="0" algn="l">
              <a:buNone/>
            </a:pPr>
            <a:r>
              <a:rPr lang="en-US" sz="1600" dirty="0">
                <a:solidFill>
                  <a:srgbClr val="D6E4F7"/>
                </a:solidFill>
                <a:latin typeface="Calibri" pitchFamily="34" charset="0"/>
                <a:ea typeface="Calibri" pitchFamily="34" charset="-122"/>
                <a:cs typeface="Calibri" pitchFamily="34" charset="-120"/>
              </a:rPr>
              <a:t>Nordhaven–LumaPay AI Risk Task Force</a:t>
            </a:r>
            <a:endParaRPr lang="en-US" sz="1600" dirty="0"/>
          </a:p>
        </p:txBody>
      </p:sp>
      <p:sp>
        <p:nvSpPr>
          <p:cNvPr id="6" name="Shape 4"/>
          <p:cNvSpPr/>
          <p:nvPr/>
        </p:nvSpPr>
        <p:spPr>
          <a:xfrm>
            <a:off x="457200" y="3063240"/>
            <a:ext cx="4572000" cy="36576"/>
          </a:xfrm>
          <a:prstGeom prst="rect">
            <a:avLst/>
          </a:prstGeom>
          <a:solidFill>
            <a:srgbClr val="344D72"/>
          </a:solidFill>
          <a:ln w="12700">
            <a:solidFill>
              <a:srgbClr val="344D72"/>
            </a:solidFill>
            <a:prstDash val="solid"/>
          </a:ln>
        </p:spPr>
        <p:txBody>
          <a:bodyPr/>
          <a:lstStyle/>
          <a:p>
            <a:endParaRPr lang="en-US"/>
          </a:p>
        </p:txBody>
      </p:sp>
      <p:sp>
        <p:nvSpPr>
          <p:cNvPr id="7" name="Text 5"/>
          <p:cNvSpPr/>
          <p:nvPr/>
        </p:nvSpPr>
        <p:spPr>
          <a:xfrm>
            <a:off x="457200" y="3291840"/>
            <a:ext cx="8229600" cy="320040"/>
          </a:xfrm>
          <a:prstGeom prst="rect">
            <a:avLst/>
          </a:prstGeom>
          <a:noFill/>
          <a:ln/>
        </p:spPr>
        <p:txBody>
          <a:bodyPr wrap="square" rtlCol="0" anchor="ctr"/>
          <a:lstStyle/>
          <a:p>
            <a:pPr marL="0" indent="0" algn="l">
              <a:buNone/>
            </a:pPr>
            <a:r>
              <a:rPr lang="en-US" sz="900" dirty="0">
                <a:solidFill>
                  <a:srgbClr val="94A3B8"/>
                </a:solidFill>
              </a:rPr>
              <a:t>Slides G0–G6 &amp; S1  ·  </a:t>
            </a:r>
            <a:r>
              <a:rPr lang="en-US" sz="900" i="1" dirty="0">
                <a:solidFill>
                  <a:srgbClr val="94A3B8"/>
                </a:solidFill>
              </a:rPr>
              <a:t>Course anchors: Day 3 Sess 2 (Kok, BCG) · Day 4 Sess 1 (Manikam) · Day 4 Sess 2 (Yemi) · Day 5 </a:t>
            </a:r>
            <a:r>
              <a:rPr lang="en-US" sz="900" i="1" dirty="0" err="1">
                <a:solidFill>
                  <a:srgbClr val="94A3B8"/>
                </a:solidFill>
              </a:rPr>
              <a:t>Sess</a:t>
            </a:r>
            <a:r>
              <a:rPr lang="en-US" sz="900" i="1" dirty="0">
                <a:solidFill>
                  <a:srgbClr val="94A3B8"/>
                </a:solidFill>
              </a:rPr>
              <a:t> 3 (Bıçakçı)</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554480" cy="256032"/>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201168"/>
            <a:ext cx="1554480" cy="256032"/>
          </a:xfrm>
          <a:prstGeom prst="rect">
            <a:avLst/>
          </a:prstGeom>
          <a:noFill/>
          <a:ln/>
        </p:spPr>
        <p:txBody>
          <a:bodyPr wrap="square" lIns="0" tIns="0" rIns="0" bIns="0" rtlCol="0" anchor="ctr"/>
          <a:lstStyle/>
          <a:p>
            <a:pPr marL="0" indent="0" algn="ctr">
              <a:buNone/>
            </a:pPr>
            <a:r>
              <a:rPr lang="en-US" sz="750" b="1" dirty="0">
                <a:solidFill>
                  <a:srgbClr val="FFFFFF"/>
                </a:solidFill>
              </a:rPr>
              <a:t>G0  ·  EXECUTIVE SUMMARY</a:t>
            </a:r>
            <a:endParaRPr lang="en-US" sz="750" dirty="0"/>
          </a:p>
        </p:txBody>
      </p:sp>
      <p:sp>
        <p:nvSpPr>
          <p:cNvPr id="4" name="Text 2"/>
          <p:cNvSpPr/>
          <p:nvPr/>
        </p:nvSpPr>
        <p:spPr>
          <a:xfrm>
            <a:off x="457200" y="512064"/>
            <a:ext cx="8229600" cy="658368"/>
          </a:xfrm>
          <a:prstGeom prst="rect">
            <a:avLst/>
          </a:prstGeom>
          <a:noFill/>
          <a:ln/>
        </p:spPr>
        <p:txBody>
          <a:bodyPr wrap="square" rtlCol="0" anchor="ctr"/>
          <a:lstStyle/>
          <a:p>
            <a:pPr marL="0" indent="0" algn="l">
              <a:buNone/>
            </a:pPr>
            <a:r>
              <a:rPr lang="en-US" sz="1900" b="1" dirty="0">
                <a:solidFill>
                  <a:srgbClr val="1C2951"/>
                </a:solidFill>
                <a:latin typeface="Calibri" pitchFamily="34" charset="0"/>
                <a:ea typeface="Calibri" pitchFamily="34" charset="-122"/>
                <a:cs typeface="Calibri" pitchFamily="34" charset="-120"/>
              </a:rPr>
              <a:t>Top 6 Governance Risks: Precise Statements for the Group Risk Committee</a:t>
            </a:r>
            <a:endParaRPr lang="en-US" sz="1900" dirty="0"/>
          </a:p>
        </p:txBody>
      </p:sp>
      <p:sp>
        <p:nvSpPr>
          <p:cNvPr id="5" name="Shape 3"/>
          <p:cNvSpPr/>
          <p:nvPr/>
        </p:nvSpPr>
        <p:spPr>
          <a:xfrm>
            <a:off x="457200" y="1207008"/>
            <a:ext cx="8229600" cy="27432"/>
          </a:xfrm>
          <a:prstGeom prst="rect">
            <a:avLst/>
          </a:prstGeom>
          <a:solidFill>
            <a:srgbClr val="CBD5E1"/>
          </a:solidFill>
          <a:ln w="12700">
            <a:solidFill>
              <a:srgbClr val="CBD5E1"/>
            </a:solidFill>
            <a:prstDash val="solid"/>
          </a:ln>
        </p:spPr>
        <p:txBody>
          <a:bodyPr/>
          <a:lstStyle/>
          <a:p>
            <a:endParaRPr lang="en-US"/>
          </a:p>
        </p:txBody>
      </p:sp>
      <p:sp>
        <p:nvSpPr>
          <p:cNvPr id="6" name="Text 4"/>
          <p:cNvSpPr/>
          <p:nvPr/>
        </p:nvSpPr>
        <p:spPr>
          <a:xfrm>
            <a:off x="320040" y="1243584"/>
            <a:ext cx="8503920" cy="237744"/>
          </a:xfrm>
          <a:prstGeom prst="rect">
            <a:avLst/>
          </a:prstGeom>
          <a:noFill/>
          <a:ln/>
        </p:spPr>
        <p:txBody>
          <a:bodyPr wrap="square" rtlCol="0" anchor="ctr"/>
          <a:lstStyle/>
          <a:p>
            <a:pPr marL="0" indent="0" algn="l">
              <a:buNone/>
            </a:pPr>
            <a:r>
              <a:rPr lang="en-US" sz="800" i="1" dirty="0">
                <a:solidFill>
                  <a:srgbClr val="475569"/>
                </a:solidFill>
              </a:rPr>
              <a:t>Risk statements tagged with lifecycle stage and framework references (Bıçakçı, Day 5 </a:t>
            </a:r>
            <a:r>
              <a:rPr lang="en-US" sz="800" i="1" dirty="0" err="1">
                <a:solidFill>
                  <a:srgbClr val="475569"/>
                </a:solidFill>
              </a:rPr>
              <a:t>Sess</a:t>
            </a:r>
            <a:r>
              <a:rPr lang="en-US" sz="800" i="1" dirty="0">
                <a:solidFill>
                  <a:srgbClr val="475569"/>
                </a:solidFill>
              </a:rPr>
              <a:t> 3). Residual risk reflects LumaPay maturity Level 1–2 (Assumption A1). Full register: Deliverable B1.</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3993473254"/>
              </p:ext>
            </p:extLst>
          </p:nvPr>
        </p:nvGraphicFramePr>
        <p:xfrm>
          <a:off x="274320" y="1508760"/>
          <a:ext cx="8595360" cy="3694176"/>
        </p:xfrm>
        <a:graphic>
          <a:graphicData uri="http://schemas.openxmlformats.org/drawingml/2006/table">
            <a:tbl>
              <a:tblPr/>
              <a:tblGrid>
                <a:gridCol w="50292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965960">
                  <a:extLst>
                    <a:ext uri="{9D8B030D-6E8A-4147-A177-3AD203B41FA5}">
                      <a16:colId xmlns:a16="http://schemas.microsoft.com/office/drawing/2014/main" val="20005"/>
                    </a:ext>
                  </a:extLst>
                </a:gridCol>
              </a:tblGrid>
              <a:tr h="402336">
                <a:tc>
                  <a:txBody>
                    <a:bodyPr/>
                    <a:lstStyle/>
                    <a:p>
                      <a:pPr marL="0" indent="0" algn="ctr">
                        <a:buNone/>
                      </a:pPr>
                      <a:r>
                        <a:rPr lang="en-US" sz="800" b="1" dirty="0">
                          <a:solidFill>
                            <a:srgbClr val="FFFFFF"/>
                          </a:solidFill>
                        </a:rPr>
                        <a:t>ID</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Rating</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Precise Risk Statement</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Lifecycle Stage</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Framework Reference</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Course Source</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extLst>
                  <a:ext uri="{0D108BD9-81ED-4DB2-BD59-A6C34878D82A}">
                    <a16:rowId xmlns:a16="http://schemas.microsoft.com/office/drawing/2014/main" val="10000"/>
                  </a:ext>
                </a:extLst>
              </a:tr>
              <a:tr h="402336">
                <a:tc>
                  <a:txBody>
                    <a:bodyPr/>
                    <a:lstStyle/>
                    <a:p>
                      <a:pPr marL="0" indent="0" algn="ctr">
                        <a:buNone/>
                      </a:pPr>
                      <a:r>
                        <a:rPr lang="en-US" sz="800" b="1" dirty="0">
                          <a:solidFill>
                            <a:srgbClr val="1C2951"/>
                          </a:solidFill>
                        </a:rPr>
                        <a:t>GR-01</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DC2626"/>
                          </a:solidFill>
                        </a:rPr>
                        <a:t>CRITICAL</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rPr>
                        <a:t>No named governance owner for LumaPay's AI estate at Day 1 close. Nordhaven inherits full regulatory accountability with no RACI, no board-approved risk appetite statement, and no documented decision rights for any in-scope system.</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475569"/>
                          </a:solidFill>
                        </a:rPr>
                        <a:t>All lifecycle stages</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D4ED8"/>
                          </a:solidFill>
                        </a:rPr>
                        <a:t>NIST AI RMF GOVERN 2; ISO/IEC 42001 Cl.5; EAIRM §5.1</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a:solidFill>
                            <a:srgbClr val="94A3B8"/>
                          </a:solidFill>
                        </a:rPr>
                        <a:t>Bıçakçı, Day 5 </a:t>
                      </a:r>
                      <a:r>
                        <a:rPr lang="en-US" sz="700" i="1" dirty="0" err="1">
                          <a:solidFill>
                            <a:srgbClr val="94A3B8"/>
                          </a:solidFill>
                        </a:rPr>
                        <a:t>Sess</a:t>
                      </a:r>
                      <a:r>
                        <a:rPr lang="en-US" sz="700" i="1" dirty="0">
                          <a:solidFill>
                            <a:srgbClr val="94A3B8"/>
                          </a:solidFill>
                        </a:rPr>
                        <a:t> 3, Submission Guidance</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800" b="1" dirty="0">
                          <a:solidFill>
                            <a:srgbClr val="1C2951"/>
                          </a:solidFill>
                        </a:rPr>
                        <a:t>GR-02</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DC2626"/>
                          </a:solidFill>
                        </a:rPr>
                        <a:t>CRITICAL</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rPr>
                        <a:t>Unknown extent of Shadow AI at LumaPay. Undocumented tools affecting customer decisions carry full EU AI Act and consumer protection liability for Nordhaven from Day 1. No discovery exercise completed; no TSA in place.</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475569"/>
                          </a:solidFill>
                        </a:rPr>
                        <a:t>Design → Deployment</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D4ED8"/>
                          </a:solidFill>
                        </a:rPr>
                        <a:t>NIST AI RMF MAP; EU AI Act Art. 6–7; EAIRM §5.1</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err="1">
                          <a:solidFill>
                            <a:srgbClr val="94A3B8"/>
                          </a:solidFill>
                        </a:rPr>
                        <a:t>Bıçakçı</a:t>
                      </a:r>
                      <a:r>
                        <a:rPr lang="en-US" sz="700" i="1" dirty="0">
                          <a:solidFill>
                            <a:srgbClr val="94A3B8"/>
                          </a:solidFill>
                        </a:rPr>
                        <a:t>; Manikam, Day 4 </a:t>
                      </a:r>
                      <a:r>
                        <a:rPr lang="en-US" sz="700" i="1" dirty="0" err="1">
                          <a:solidFill>
                            <a:srgbClr val="94A3B8"/>
                          </a:solidFill>
                        </a:rPr>
                        <a:t>Sess</a:t>
                      </a:r>
                      <a:r>
                        <a:rPr lang="en-US" sz="700" i="1" dirty="0">
                          <a:solidFill>
                            <a:srgbClr val="94A3B8"/>
                          </a:solidFill>
                        </a:rPr>
                        <a:t> 1</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en-US" sz="800" b="1" dirty="0">
                          <a:solidFill>
                            <a:srgbClr val="1C2951"/>
                          </a:solidFill>
                        </a:rPr>
                        <a:t>GR-03</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D97706"/>
                          </a:solidFill>
                        </a:rPr>
                        <a:t>HIGH</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rPr>
                        <a:t>LumaCredit-EU is high-risk (EU AI Act, Annex III) but lacks conformity assessment evidence, model cards, and a documented Art. 9 risk management system. Non-compliance is a pre-close confirmed gap.</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475569"/>
                          </a:solidFill>
                        </a:rPr>
                        <a:t>Full lifecycle</a:t>
                      </a:r>
                      <a:endParaRPr lang="en-US" sz="750" dirty="0"/>
                    </a:p>
                    <a:p>
                      <a:pPr marL="0" indent="0">
                        <a:buNone/>
                      </a:pPr>
                      <a:r>
                        <a:rPr lang="en-US" sz="750" i="1" dirty="0">
                          <a:solidFill>
                            <a:srgbClr val="475569"/>
                          </a:solidFill>
                        </a:rPr>
                        <a:t>(per </a:t>
                      </a:r>
                      <a:r>
                        <a:rPr lang="en-US" sz="750" i="1" dirty="0" err="1">
                          <a:solidFill>
                            <a:srgbClr val="475569"/>
                          </a:solidFill>
                        </a:rPr>
                        <a:t>Bıçakçı</a:t>
                      </a:r>
                      <a:r>
                        <a:rPr lang="en-US" sz="750" i="1" dirty="0">
                          <a:solidFill>
                            <a:srgbClr val="475569"/>
                          </a:solidFill>
                        </a:rPr>
                        <a:t>; EU AI Act Art. 9)</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D4ED8"/>
                          </a:solidFill>
                        </a:rPr>
                        <a:t>EU AI Act Art. 9, 13–14; NIST AI RMF MAP; ISO/IEC 42001 Cl.8</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err="1">
                          <a:solidFill>
                            <a:srgbClr val="94A3B8"/>
                          </a:solidFill>
                        </a:rPr>
                        <a:t>Bıçakçı</a:t>
                      </a:r>
                      <a:r>
                        <a:rPr lang="en-US" sz="700" i="1" dirty="0">
                          <a:solidFill>
                            <a:srgbClr val="94A3B8"/>
                          </a:solidFill>
                        </a:rPr>
                        <a:t>; Brief Slides ('Key AI Systems')</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ctr">
                        <a:buNone/>
                      </a:pPr>
                      <a:r>
                        <a:rPr lang="en-US" sz="800" b="1" dirty="0">
                          <a:solidFill>
                            <a:srgbClr val="1C2951"/>
                          </a:solidFill>
                        </a:rPr>
                        <a:t>GR-04</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D97706"/>
                          </a:solidFill>
                        </a:rPr>
                        <a:t>HIGH</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rPr>
                        <a:t>AutoUnderwriter Agent operates with no evidenced HITL controls in a regulated environment. EU AI Act Art. 14 human oversight obligations are unmet. Agentic governance controls confirmed 'least mature' in this scenario.</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475569"/>
                          </a:solidFill>
                        </a:rPr>
                        <a:t>Deployment → Monitoring</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D4ED8"/>
                          </a:solidFill>
                        </a:rPr>
                        <a:t>EU AI Act Art. 14; NIST AI RMF GOVERN 2; Manikam, Day 4 Sess 1</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a:solidFill>
                            <a:srgbClr val="94A3B8"/>
                          </a:solidFill>
                        </a:rPr>
                        <a:t>Brief Slides ('AutoUnderwriter Agent'); Manikam, Day 4 </a:t>
                      </a:r>
                      <a:r>
                        <a:rPr lang="en-US" sz="700" i="1" dirty="0" err="1">
                          <a:solidFill>
                            <a:srgbClr val="94A3B8"/>
                          </a:solidFill>
                        </a:rPr>
                        <a:t>Sess</a:t>
                      </a:r>
                      <a:r>
                        <a:rPr lang="en-US" sz="700" i="1" dirty="0">
                          <a:solidFill>
                            <a:srgbClr val="94A3B8"/>
                          </a:solidFill>
                        </a:rPr>
                        <a:t> 1</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ctr">
                        <a:buNone/>
                      </a:pPr>
                      <a:r>
                        <a:rPr lang="en-US" sz="800" b="1" dirty="0">
                          <a:solidFill>
                            <a:srgbClr val="1C2951"/>
                          </a:solidFill>
                        </a:rPr>
                        <a:t>GR-05</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D97706"/>
                          </a:solidFill>
                        </a:rPr>
                        <a:t>HIGH</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rPr>
                        <a:t>No binding employment contracts for LumaPay AI engineers (3-month notice confirmed). Post-close attrition leaves lifecycle stages without a named accountable owner — the direct precondition for a governance incident.</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475569"/>
                          </a:solidFill>
                        </a:rPr>
                        <a:t>All stages (esp. Monitoring → Retirement)</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D4ED8"/>
                          </a:solidFill>
                        </a:rPr>
                        <a:t>ISO/IEC 42001 Cl.5; RACI Model (Glossary §B); EAIRM §5.1</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err="1">
                          <a:solidFill>
                            <a:srgbClr val="94A3B8"/>
                          </a:solidFill>
                        </a:rPr>
                        <a:t>Bıçakçı</a:t>
                      </a:r>
                      <a:r>
                        <a:rPr lang="en-US" sz="700" i="1" dirty="0">
                          <a:solidFill>
                            <a:srgbClr val="94A3B8"/>
                          </a:solidFill>
                        </a:rPr>
                        <a:t>; Submission Guidance</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ctr">
                        <a:buNone/>
                      </a:pPr>
                      <a:r>
                        <a:rPr lang="en-US" sz="800" b="1" dirty="0">
                          <a:solidFill>
                            <a:srgbClr val="1C2951"/>
                          </a:solidFill>
                        </a:rPr>
                        <a:t>GR-06</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D97706"/>
                          </a:solidFill>
                        </a:rPr>
                        <a:t>HIGH</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rPr>
                        <a:t>FraudShield change-of-control clause status unconfirmed pre-close. Triggered clause could cut fraud detection access within days of close, leaving the consumer credit product without primary fraud control.</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475569"/>
                          </a:solidFill>
                        </a:rPr>
                        <a:t>Deployment → Monitoring</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1D4ED8"/>
                          </a:solidFill>
                        </a:rPr>
                        <a:t>DORA Art. 28–30 (A2); ISO/IEC 27036; Taxonomy A9</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err="1">
                          <a:solidFill>
                            <a:srgbClr val="94A3B8"/>
                          </a:solidFill>
                        </a:rPr>
                        <a:t>Bıçakçı</a:t>
                      </a:r>
                      <a:r>
                        <a:rPr lang="en-US" sz="700" i="1" dirty="0">
                          <a:solidFill>
                            <a:srgbClr val="94A3B8"/>
                          </a:solidFill>
                        </a:rPr>
                        <a:t>; Brief Slides ('FraudShield')</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 5"/>
          <p:cNvSpPr/>
          <p:nvPr/>
        </p:nvSpPr>
        <p:spPr>
          <a:xfrm>
            <a:off x="457200" y="5230368"/>
            <a:ext cx="8229600" cy="256032"/>
          </a:xfrm>
          <a:prstGeom prst="rect">
            <a:avLst/>
          </a:prstGeom>
          <a:noFill/>
          <a:ln/>
        </p:spPr>
        <p:txBody>
          <a:bodyPr wrap="square" rtlCol="0" anchor="b"/>
          <a:lstStyle/>
          <a:p>
            <a:pPr marL="0" indent="0" algn="l">
              <a:buNone/>
            </a:pPr>
            <a:r>
              <a:rPr lang="en-US" sz="750" b="1" i="1" dirty="0">
                <a:solidFill>
                  <a:schemeClr val="bg1">
                    <a:lumMod val="65000"/>
                  </a:schemeClr>
                </a:solidFill>
              </a:rPr>
              <a:t>Source: </a:t>
            </a:r>
            <a:r>
              <a:rPr lang="en-US" sz="750" b="1" i="1" dirty="0" err="1">
                <a:solidFill>
                  <a:schemeClr val="bg1">
                    <a:lumMod val="65000"/>
                  </a:schemeClr>
                </a:solidFill>
              </a:rPr>
              <a:t>Bıçakçı</a:t>
            </a:r>
            <a:r>
              <a:rPr lang="en-US" sz="750" b="1" i="1" dirty="0">
                <a:solidFill>
                  <a:schemeClr val="bg1">
                    <a:lumMod val="65000"/>
                  </a:schemeClr>
                </a:solidFill>
              </a:rPr>
              <a:t>, Day 5 </a:t>
            </a:r>
            <a:r>
              <a:rPr lang="en-US" sz="750" b="1" i="1" dirty="0" err="1">
                <a:solidFill>
                  <a:schemeClr val="bg1">
                    <a:lumMod val="65000"/>
                  </a:schemeClr>
                </a:solidFill>
              </a:rPr>
              <a:t>Sess</a:t>
            </a:r>
            <a:r>
              <a:rPr lang="en-US" sz="750" b="1" i="1" dirty="0">
                <a:solidFill>
                  <a:schemeClr val="bg1">
                    <a:lumMod val="65000"/>
                  </a:schemeClr>
                </a:solidFill>
              </a:rPr>
              <a:t> 3; </a:t>
            </a:r>
            <a:r>
              <a:rPr lang="en-US" sz="750" b="1" i="1" dirty="0" err="1">
                <a:solidFill>
                  <a:schemeClr val="bg1">
                    <a:lumMod val="65000"/>
                  </a:schemeClr>
                </a:solidFill>
              </a:rPr>
              <a:t>Manikam</a:t>
            </a:r>
            <a:r>
              <a:rPr lang="en-US" sz="750" b="1" i="1" dirty="0">
                <a:solidFill>
                  <a:schemeClr val="bg1">
                    <a:lumMod val="65000"/>
                  </a:schemeClr>
                </a:solidFill>
              </a:rPr>
              <a:t>, Day 4 </a:t>
            </a:r>
            <a:r>
              <a:rPr lang="en-US" sz="750" b="1" i="1" dirty="0" err="1">
                <a:solidFill>
                  <a:schemeClr val="bg1">
                    <a:lumMod val="65000"/>
                  </a:schemeClr>
                </a:solidFill>
              </a:rPr>
              <a:t>Sess</a:t>
            </a:r>
            <a:r>
              <a:rPr lang="en-US" sz="750" b="1" i="1" dirty="0">
                <a:solidFill>
                  <a:schemeClr val="bg1">
                    <a:lumMod val="65000"/>
                  </a:schemeClr>
                </a:solidFill>
              </a:rPr>
              <a:t> 1; EAIRM §5.1; Brief Slides. Governance-lens risks only — operational and cyber risks addressed by other team members. Rating levels: Yemi, Day 4 </a:t>
            </a:r>
            <a:r>
              <a:rPr lang="en-US" sz="750" b="1" i="1" dirty="0" err="1">
                <a:solidFill>
                  <a:schemeClr val="bg1">
                    <a:lumMod val="65000"/>
                  </a:schemeClr>
                </a:solidFill>
              </a:rPr>
              <a:t>Sess</a:t>
            </a:r>
            <a:r>
              <a:rPr lang="en-US" sz="750" b="1" i="1" dirty="0">
                <a:solidFill>
                  <a:schemeClr val="bg1">
                    <a:lumMod val="65000"/>
                  </a:schemeClr>
                </a:solidFill>
              </a:rPr>
              <a:t> 2, Slides p.28.</a:t>
            </a:r>
            <a:endParaRPr lang="en-US" sz="750" b="1" dirty="0">
              <a:solidFill>
                <a:schemeClr val="bg1">
                  <a:lumMod val="65000"/>
                </a:schemeClr>
              </a:solidFill>
            </a:endParaRPr>
          </a:p>
        </p:txBody>
      </p:sp>
      <p:sp>
        <p:nvSpPr>
          <p:cNvPr id="10" name="TextBox 9">
            <a:extLst>
              <a:ext uri="{FF2B5EF4-FFF2-40B4-BE49-F238E27FC236}">
                <a16:creationId xmlns:a16="http://schemas.microsoft.com/office/drawing/2014/main" id="{C4F1E0B5-19AE-31EA-13F1-8DDAA3018E73}"/>
              </a:ext>
            </a:extLst>
          </p:cNvPr>
          <p:cNvSpPr txBox="1"/>
          <p:nvPr/>
        </p:nvSpPr>
        <p:spPr>
          <a:xfrm>
            <a:off x="8174421" y="859221"/>
            <a:ext cx="184731" cy="369332"/>
          </a:xfrm>
          <a:prstGeom prst="rect">
            <a:avLst/>
          </a:prstGeom>
          <a:noFill/>
        </p:spPr>
        <p:txBody>
          <a:bodyPr wrap="none" rtlCol="0">
            <a:spAutoFit/>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554480" cy="256032"/>
          </a:xfrm>
          <a:prstGeom prst="rect">
            <a:avLst/>
          </a:prstGeom>
          <a:solidFill>
            <a:srgbClr val="3B82F6"/>
          </a:solidFill>
          <a:ln w="12700">
            <a:solidFill>
              <a:srgbClr val="3B82F6"/>
            </a:solidFill>
            <a:prstDash val="solid"/>
          </a:ln>
        </p:spPr>
        <p:txBody>
          <a:bodyPr/>
          <a:lstStyle/>
          <a:p>
            <a:endParaRPr/>
          </a:p>
        </p:txBody>
      </p:sp>
      <p:sp>
        <p:nvSpPr>
          <p:cNvPr id="3" name="Text 1"/>
          <p:cNvSpPr/>
          <p:nvPr/>
        </p:nvSpPr>
        <p:spPr>
          <a:xfrm>
            <a:off x="457200" y="201168"/>
            <a:ext cx="1554480" cy="256032"/>
          </a:xfrm>
          <a:prstGeom prst="rect">
            <a:avLst/>
          </a:prstGeom>
          <a:noFill/>
          <a:ln/>
        </p:spPr>
        <p:txBody>
          <a:bodyPr wrap="square" lIns="0" tIns="0" rIns="0" bIns="0" rtlCol="0" anchor="ctr"/>
          <a:lstStyle/>
          <a:p>
            <a:pPr marL="0" indent="0" algn="ctr">
              <a:buNone/>
            </a:pPr>
            <a:r>
              <a:rPr lang="en-US" sz="750" b="1" dirty="0">
                <a:solidFill>
                  <a:srgbClr val="FFFFFF"/>
                </a:solidFill>
              </a:rPr>
              <a:t>G1  ·  FRAMING</a:t>
            </a:r>
            <a:endParaRPr lang="en-US" sz="750" dirty="0"/>
          </a:p>
        </p:txBody>
      </p:sp>
      <p:sp>
        <p:nvSpPr>
          <p:cNvPr id="4" name="Text 2"/>
          <p:cNvSpPr/>
          <p:nvPr/>
        </p:nvSpPr>
        <p:spPr>
          <a:xfrm>
            <a:off x="457200" y="512064"/>
            <a:ext cx="8229600" cy="658368"/>
          </a:xfrm>
          <a:prstGeom prst="rect">
            <a:avLst/>
          </a:prstGeom>
          <a:noFill/>
          <a:ln/>
        </p:spPr>
        <p:txBody>
          <a:bodyPr wrap="square" rtlCol="0" anchor="ctr"/>
          <a:lstStyle/>
          <a:p>
            <a:pPr marL="0" indent="0" algn="l">
              <a:buNone/>
            </a:pPr>
            <a:r>
              <a:rPr lang="en-US" sz="2400" b="1" dirty="0">
                <a:solidFill>
                  <a:srgbClr val="1C2951"/>
                </a:solidFill>
                <a:latin typeface="Calibri" pitchFamily="34" charset="0"/>
                <a:ea typeface="Calibri" pitchFamily="34" charset="-122"/>
                <a:cs typeface="Calibri" pitchFamily="34" charset="-120"/>
              </a:rPr>
              <a:t>M&amp;A as a Governance Stress Test</a:t>
            </a:r>
            <a:endParaRPr lang="en-US" sz="2400" dirty="0"/>
          </a:p>
        </p:txBody>
      </p:sp>
      <p:sp>
        <p:nvSpPr>
          <p:cNvPr id="5" name="Shape 3"/>
          <p:cNvSpPr/>
          <p:nvPr/>
        </p:nvSpPr>
        <p:spPr>
          <a:xfrm>
            <a:off x="457200" y="1207008"/>
            <a:ext cx="8229600" cy="27432"/>
          </a:xfrm>
          <a:prstGeom prst="rect">
            <a:avLst/>
          </a:prstGeom>
          <a:solidFill>
            <a:srgbClr val="CBD5E1"/>
          </a:solidFill>
          <a:ln w="12700">
            <a:solidFill>
              <a:srgbClr val="CBD5E1"/>
            </a:solidFill>
            <a:prstDash val="solid"/>
          </a:ln>
        </p:spPr>
        <p:txBody>
          <a:bodyPr/>
          <a:lstStyle/>
          <a:p>
            <a:endParaRPr/>
          </a:p>
        </p:txBody>
      </p:sp>
      <p:sp>
        <p:nvSpPr>
          <p:cNvPr id="6" name="Shape 4"/>
          <p:cNvSpPr/>
          <p:nvPr/>
        </p:nvSpPr>
        <p:spPr>
          <a:xfrm>
            <a:off x="320040" y="1325880"/>
            <a:ext cx="2697480" cy="3108960"/>
          </a:xfrm>
          <a:prstGeom prst="rect">
            <a:avLst/>
          </a:prstGeom>
          <a:solidFill>
            <a:srgbClr val="F4F7FC"/>
          </a:solidFill>
          <a:ln w="12700">
            <a:solidFill>
              <a:srgbClr val="CBD5E1"/>
            </a:solidFill>
            <a:prstDash val="solid"/>
          </a:ln>
          <a:effectLst>
            <a:outerShdw blurRad="63500" dist="25400" dir="8100000" algn="bl" rotWithShape="0">
              <a:srgbClr val="000000">
                <a:alpha val="7000"/>
              </a:srgbClr>
            </a:outerShdw>
          </a:effectLst>
        </p:spPr>
        <p:txBody>
          <a:bodyPr/>
          <a:lstStyle/>
          <a:p>
            <a:endParaRPr/>
          </a:p>
        </p:txBody>
      </p:sp>
      <p:sp>
        <p:nvSpPr>
          <p:cNvPr id="7" name="Shape 5"/>
          <p:cNvSpPr/>
          <p:nvPr/>
        </p:nvSpPr>
        <p:spPr>
          <a:xfrm>
            <a:off x="320040" y="1325880"/>
            <a:ext cx="2697480" cy="54864"/>
          </a:xfrm>
          <a:prstGeom prst="rect">
            <a:avLst/>
          </a:prstGeom>
          <a:solidFill>
            <a:srgbClr val="3B82F6"/>
          </a:solidFill>
          <a:ln w="12700">
            <a:solidFill>
              <a:srgbClr val="3B82F6"/>
            </a:solidFill>
            <a:prstDash val="solid"/>
          </a:ln>
        </p:spPr>
        <p:txBody>
          <a:bodyPr/>
          <a:lstStyle/>
          <a:p>
            <a:endParaRPr/>
          </a:p>
        </p:txBody>
      </p:sp>
      <p:sp>
        <p:nvSpPr>
          <p:cNvPr id="8" name="Shape 6"/>
          <p:cNvSpPr/>
          <p:nvPr/>
        </p:nvSpPr>
        <p:spPr>
          <a:xfrm>
            <a:off x="457200" y="1463040"/>
            <a:ext cx="384048" cy="384048"/>
          </a:xfrm>
          <a:prstGeom prst="ellipse">
            <a:avLst/>
          </a:prstGeom>
          <a:solidFill>
            <a:srgbClr val="1D4ED8"/>
          </a:solidFill>
          <a:ln w="12700">
            <a:solidFill>
              <a:srgbClr val="1D4ED8"/>
            </a:solidFill>
            <a:prstDash val="solid"/>
          </a:ln>
        </p:spPr>
        <p:txBody>
          <a:bodyPr/>
          <a:lstStyle/>
          <a:p>
            <a:endParaRPr/>
          </a:p>
        </p:txBody>
      </p:sp>
      <p:sp>
        <p:nvSpPr>
          <p:cNvPr id="9" name="Text 7"/>
          <p:cNvSpPr/>
          <p:nvPr/>
        </p:nvSpPr>
        <p:spPr>
          <a:xfrm>
            <a:off x="457200" y="146304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0" name="Text 8"/>
          <p:cNvSpPr/>
          <p:nvPr/>
        </p:nvSpPr>
        <p:spPr>
          <a:xfrm>
            <a:off x="457200" y="1947672"/>
            <a:ext cx="2423160" cy="548640"/>
          </a:xfrm>
          <a:prstGeom prst="rect">
            <a:avLst/>
          </a:prstGeom>
          <a:noFill/>
          <a:ln/>
        </p:spPr>
        <p:txBody>
          <a:bodyPr wrap="square" rtlCol="0" anchor="t"/>
          <a:lstStyle/>
          <a:p>
            <a:pPr marL="0" indent="0" algn="l">
              <a:buNone/>
            </a:pPr>
            <a:r>
              <a:rPr lang="en-US" sz="1100" b="1" dirty="0">
                <a:solidFill>
                  <a:srgbClr val="1C2951"/>
                </a:solidFill>
                <a:latin typeface="Calibri" pitchFamily="34" charset="0"/>
                <a:ea typeface="Calibri" pitchFamily="34" charset="-122"/>
                <a:cs typeface="Calibri" pitchFamily="34" charset="-120"/>
              </a:rPr>
              <a:t>Opacity, Drift &amp; Scale Asymmetry</a:t>
            </a:r>
            <a:endParaRPr lang="en-US" sz="1100" dirty="0"/>
          </a:p>
        </p:txBody>
      </p:sp>
      <p:sp>
        <p:nvSpPr>
          <p:cNvPr id="11" name="Text 9"/>
          <p:cNvSpPr/>
          <p:nvPr/>
        </p:nvSpPr>
        <p:spPr>
          <a:xfrm>
            <a:off x="457200" y="2587752"/>
            <a:ext cx="2423160" cy="1417320"/>
          </a:xfrm>
          <a:prstGeom prst="rect">
            <a:avLst/>
          </a:prstGeom>
          <a:noFill/>
          <a:ln/>
        </p:spPr>
        <p:txBody>
          <a:bodyPr wrap="square"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AI systems violate three assumptions of traditional ERM: behaviour can be opaque, it drifts over time, and errors propagate at machine speed. All three substrate properties are live across LumaPay's four in-scope systems.</a:t>
            </a:r>
            <a:endParaRPr lang="en-US" sz="950" dirty="0"/>
          </a:p>
        </p:txBody>
      </p:sp>
      <p:sp>
        <p:nvSpPr>
          <p:cNvPr id="12" name="Text 10"/>
          <p:cNvSpPr/>
          <p:nvPr/>
        </p:nvSpPr>
        <p:spPr>
          <a:xfrm>
            <a:off x="457200" y="4087368"/>
            <a:ext cx="2423160" cy="292608"/>
          </a:xfrm>
          <a:prstGeom prst="rect">
            <a:avLst/>
          </a:prstGeom>
          <a:noFill/>
          <a:ln/>
        </p:spPr>
        <p:txBody>
          <a:bodyPr wrap="square" rtlCol="0" anchor="b"/>
          <a:lstStyle/>
          <a:p>
            <a:pPr marL="0" indent="0" algn="l">
              <a:buNone/>
            </a:pPr>
            <a:r>
              <a:rPr lang="en-US" sz="750" i="1" dirty="0">
                <a:solidFill>
                  <a:srgbClr val="94A3B8"/>
                </a:solidFill>
                <a:latin typeface="Calibri" pitchFamily="34" charset="0"/>
                <a:ea typeface="Calibri" pitchFamily="34" charset="-122"/>
                <a:cs typeface="Calibri" pitchFamily="34" charset="-120"/>
              </a:rPr>
              <a:t>EAIRM Framework p.2 (Executive Summary); Glossary §A (Risk Substrate)</a:t>
            </a:r>
            <a:endParaRPr lang="en-US" sz="750" dirty="0"/>
          </a:p>
        </p:txBody>
      </p:sp>
      <p:sp>
        <p:nvSpPr>
          <p:cNvPr id="13" name="Shape 11"/>
          <p:cNvSpPr/>
          <p:nvPr/>
        </p:nvSpPr>
        <p:spPr>
          <a:xfrm>
            <a:off x="3246120" y="1325880"/>
            <a:ext cx="2697480" cy="3108960"/>
          </a:xfrm>
          <a:prstGeom prst="rect">
            <a:avLst/>
          </a:prstGeom>
          <a:solidFill>
            <a:srgbClr val="F4F7FC"/>
          </a:solidFill>
          <a:ln w="12700">
            <a:solidFill>
              <a:srgbClr val="CBD5E1"/>
            </a:solidFill>
            <a:prstDash val="solid"/>
          </a:ln>
          <a:effectLst>
            <a:outerShdw blurRad="63500" dist="25400" dir="8100000" algn="bl" rotWithShape="0">
              <a:srgbClr val="000000">
                <a:alpha val="7000"/>
              </a:srgbClr>
            </a:outerShdw>
          </a:effectLst>
        </p:spPr>
        <p:txBody>
          <a:bodyPr/>
          <a:lstStyle/>
          <a:p>
            <a:endParaRPr dirty="0"/>
          </a:p>
        </p:txBody>
      </p:sp>
      <p:sp>
        <p:nvSpPr>
          <p:cNvPr id="14" name="Shape 12"/>
          <p:cNvSpPr/>
          <p:nvPr/>
        </p:nvSpPr>
        <p:spPr>
          <a:xfrm>
            <a:off x="3246120" y="1325880"/>
            <a:ext cx="2697480" cy="54864"/>
          </a:xfrm>
          <a:prstGeom prst="rect">
            <a:avLst/>
          </a:prstGeom>
          <a:solidFill>
            <a:srgbClr val="3B82F6"/>
          </a:solidFill>
          <a:ln w="12700">
            <a:solidFill>
              <a:srgbClr val="3B82F6"/>
            </a:solidFill>
            <a:prstDash val="solid"/>
          </a:ln>
        </p:spPr>
        <p:txBody>
          <a:bodyPr/>
          <a:lstStyle/>
          <a:p>
            <a:endParaRPr/>
          </a:p>
        </p:txBody>
      </p:sp>
      <p:sp>
        <p:nvSpPr>
          <p:cNvPr id="15" name="Shape 13"/>
          <p:cNvSpPr/>
          <p:nvPr/>
        </p:nvSpPr>
        <p:spPr>
          <a:xfrm>
            <a:off x="3383280" y="1463040"/>
            <a:ext cx="384048" cy="384048"/>
          </a:xfrm>
          <a:prstGeom prst="ellipse">
            <a:avLst/>
          </a:prstGeom>
          <a:solidFill>
            <a:srgbClr val="1D4ED8"/>
          </a:solidFill>
          <a:ln w="12700">
            <a:solidFill>
              <a:srgbClr val="1D4ED8"/>
            </a:solidFill>
            <a:prstDash val="solid"/>
          </a:ln>
        </p:spPr>
        <p:txBody>
          <a:bodyPr/>
          <a:lstStyle/>
          <a:p>
            <a:endParaRPr/>
          </a:p>
        </p:txBody>
      </p:sp>
      <p:sp>
        <p:nvSpPr>
          <p:cNvPr id="16" name="Text 14"/>
          <p:cNvSpPr/>
          <p:nvPr/>
        </p:nvSpPr>
        <p:spPr>
          <a:xfrm>
            <a:off x="3383280" y="146304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7" name="Text 15"/>
          <p:cNvSpPr/>
          <p:nvPr/>
        </p:nvSpPr>
        <p:spPr>
          <a:xfrm>
            <a:off x="3383280" y="1947672"/>
            <a:ext cx="2423160" cy="548640"/>
          </a:xfrm>
          <a:prstGeom prst="rect">
            <a:avLst/>
          </a:prstGeom>
          <a:noFill/>
          <a:ln/>
        </p:spPr>
        <p:txBody>
          <a:bodyPr wrap="square" rtlCol="0" anchor="t"/>
          <a:lstStyle/>
          <a:p>
            <a:pPr marL="0" indent="0" algn="l">
              <a:buNone/>
            </a:pPr>
            <a:r>
              <a:rPr lang="en-US" sz="1100" b="1" dirty="0">
                <a:solidFill>
                  <a:srgbClr val="1C2951"/>
                </a:solidFill>
                <a:latin typeface="Calibri" pitchFamily="34" charset="0"/>
                <a:ea typeface="Calibri" pitchFamily="34" charset="-122"/>
                <a:cs typeface="Calibri" pitchFamily="34" charset="-120"/>
              </a:rPr>
              <a:t>Full Liability Transfers on Day 1</a:t>
            </a:r>
            <a:endParaRPr lang="en-US" sz="1100" dirty="0"/>
          </a:p>
        </p:txBody>
      </p:sp>
      <p:sp>
        <p:nvSpPr>
          <p:cNvPr id="18" name="Text 16"/>
          <p:cNvSpPr/>
          <p:nvPr/>
        </p:nvSpPr>
        <p:spPr>
          <a:xfrm>
            <a:off x="3383280" y="2587752"/>
            <a:ext cx="2423160" cy="1417320"/>
          </a:xfrm>
          <a:prstGeom prst="rect">
            <a:avLst/>
          </a:prstGeom>
          <a:noFill/>
          <a:ln/>
        </p:spPr>
        <p:txBody>
          <a:bodyPr wrap="square"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Nordhaven's 80% acquisition inherits the entire AI estate — including anything undocumented, experimental, or 'slightly embarrassing.' No transition services agreement is in place.</a:t>
            </a:r>
            <a:endParaRPr lang="en-US" sz="950" dirty="0"/>
          </a:p>
        </p:txBody>
      </p:sp>
      <p:sp>
        <p:nvSpPr>
          <p:cNvPr id="19" name="Text 17"/>
          <p:cNvSpPr/>
          <p:nvPr/>
        </p:nvSpPr>
        <p:spPr>
          <a:xfrm>
            <a:off x="3383280" y="4087368"/>
            <a:ext cx="2423160" cy="292608"/>
          </a:xfrm>
          <a:prstGeom prst="rect">
            <a:avLst/>
          </a:prstGeom>
          <a:noFill/>
          <a:ln/>
        </p:spPr>
        <p:txBody>
          <a:bodyPr wrap="square" rtlCol="0" anchor="b"/>
          <a:lstStyle/>
          <a:p>
            <a:pPr marL="0" indent="0" algn="l">
              <a:buNone/>
            </a:pPr>
            <a:r>
              <a:rPr lang="en-US" sz="750" i="1" dirty="0">
                <a:solidFill>
                  <a:srgbClr val="94A3B8"/>
                </a:solidFill>
                <a:latin typeface="Calibri" pitchFamily="34" charset="0"/>
                <a:ea typeface="Calibri" pitchFamily="34" charset="-122"/>
                <a:cs typeface="Calibri" pitchFamily="34" charset="-120"/>
              </a:rPr>
              <a:t>Bıçakçı, Day 5 </a:t>
            </a:r>
            <a:r>
              <a:rPr lang="en-US" sz="750" i="1" dirty="0" err="1">
                <a:solidFill>
                  <a:srgbClr val="94A3B8"/>
                </a:solidFill>
                <a:latin typeface="Calibri" pitchFamily="34" charset="0"/>
                <a:ea typeface="Calibri" pitchFamily="34" charset="-122"/>
                <a:cs typeface="Calibri" pitchFamily="34" charset="-120"/>
              </a:rPr>
              <a:t>Sess</a:t>
            </a:r>
            <a:r>
              <a:rPr lang="en-US" sz="750" i="1" dirty="0">
                <a:solidFill>
                  <a:srgbClr val="94A3B8"/>
                </a:solidFill>
                <a:latin typeface="Calibri" pitchFamily="34" charset="0"/>
                <a:ea typeface="Calibri" pitchFamily="34" charset="-122"/>
                <a:cs typeface="Calibri" pitchFamily="34" charset="-120"/>
              </a:rPr>
              <a:t> 3; Submission Guidance (governance responsibility); (no TSA confirmed)</a:t>
            </a:r>
            <a:endParaRPr lang="en-US" sz="750" dirty="0"/>
          </a:p>
        </p:txBody>
      </p:sp>
      <p:sp>
        <p:nvSpPr>
          <p:cNvPr id="20" name="Shape 18"/>
          <p:cNvSpPr/>
          <p:nvPr/>
        </p:nvSpPr>
        <p:spPr>
          <a:xfrm>
            <a:off x="6172200" y="1325880"/>
            <a:ext cx="2697480" cy="3108960"/>
          </a:xfrm>
          <a:prstGeom prst="rect">
            <a:avLst/>
          </a:prstGeom>
          <a:solidFill>
            <a:srgbClr val="F4F7FC"/>
          </a:solidFill>
          <a:ln w="12700">
            <a:solidFill>
              <a:srgbClr val="CBD5E1"/>
            </a:solidFill>
            <a:prstDash val="solid"/>
          </a:ln>
          <a:effectLst>
            <a:outerShdw blurRad="63500" dist="25400" dir="8100000" algn="bl" rotWithShape="0">
              <a:srgbClr val="000000">
                <a:alpha val="7000"/>
              </a:srgbClr>
            </a:outerShdw>
          </a:effectLst>
        </p:spPr>
        <p:txBody>
          <a:bodyPr/>
          <a:lstStyle/>
          <a:p>
            <a:endParaRPr/>
          </a:p>
        </p:txBody>
      </p:sp>
      <p:sp>
        <p:nvSpPr>
          <p:cNvPr id="21" name="Shape 19"/>
          <p:cNvSpPr/>
          <p:nvPr/>
        </p:nvSpPr>
        <p:spPr>
          <a:xfrm>
            <a:off x="6172200" y="1325880"/>
            <a:ext cx="2697480" cy="54864"/>
          </a:xfrm>
          <a:prstGeom prst="rect">
            <a:avLst/>
          </a:prstGeom>
          <a:solidFill>
            <a:srgbClr val="3B82F6"/>
          </a:solidFill>
          <a:ln w="12700">
            <a:solidFill>
              <a:srgbClr val="3B82F6"/>
            </a:solidFill>
            <a:prstDash val="solid"/>
          </a:ln>
        </p:spPr>
        <p:txBody>
          <a:bodyPr/>
          <a:lstStyle/>
          <a:p>
            <a:endParaRPr/>
          </a:p>
        </p:txBody>
      </p:sp>
      <p:sp>
        <p:nvSpPr>
          <p:cNvPr id="22" name="Shape 20"/>
          <p:cNvSpPr/>
          <p:nvPr/>
        </p:nvSpPr>
        <p:spPr>
          <a:xfrm>
            <a:off x="6309360" y="1463040"/>
            <a:ext cx="384048" cy="384048"/>
          </a:xfrm>
          <a:prstGeom prst="ellipse">
            <a:avLst/>
          </a:prstGeom>
          <a:solidFill>
            <a:srgbClr val="1D4ED8"/>
          </a:solidFill>
          <a:ln w="12700">
            <a:solidFill>
              <a:srgbClr val="1D4ED8"/>
            </a:solidFill>
            <a:prstDash val="solid"/>
          </a:ln>
        </p:spPr>
        <p:txBody>
          <a:bodyPr/>
          <a:lstStyle/>
          <a:p>
            <a:endParaRPr/>
          </a:p>
        </p:txBody>
      </p:sp>
      <p:sp>
        <p:nvSpPr>
          <p:cNvPr id="23" name="Text 21"/>
          <p:cNvSpPr/>
          <p:nvPr/>
        </p:nvSpPr>
        <p:spPr>
          <a:xfrm>
            <a:off x="6309360" y="146304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4" name="Text 22"/>
          <p:cNvSpPr/>
          <p:nvPr/>
        </p:nvSpPr>
        <p:spPr>
          <a:xfrm>
            <a:off x="6309360" y="1947672"/>
            <a:ext cx="2423160" cy="548640"/>
          </a:xfrm>
          <a:prstGeom prst="rect">
            <a:avLst/>
          </a:prstGeom>
          <a:noFill/>
          <a:ln/>
        </p:spPr>
        <p:txBody>
          <a:bodyPr wrap="square" rtlCol="0" anchor="t"/>
          <a:lstStyle/>
          <a:p>
            <a:pPr marL="0" indent="0" algn="l">
              <a:buNone/>
            </a:pPr>
            <a:r>
              <a:rPr lang="en-US" sz="1100" b="1" dirty="0">
                <a:solidFill>
                  <a:srgbClr val="1C2951"/>
                </a:solidFill>
                <a:latin typeface="Calibri" pitchFamily="34" charset="0"/>
                <a:ea typeface="Calibri" pitchFamily="34" charset="-122"/>
                <a:cs typeface="Calibri" pitchFamily="34" charset="-120"/>
              </a:rPr>
              <a:t>Governance Misalignment = Accountability Gaps</a:t>
            </a:r>
            <a:endParaRPr lang="en-US" sz="1100" dirty="0"/>
          </a:p>
        </p:txBody>
      </p:sp>
      <p:sp>
        <p:nvSpPr>
          <p:cNvPr id="25" name="Text 23"/>
          <p:cNvSpPr/>
          <p:nvPr/>
        </p:nvSpPr>
        <p:spPr>
          <a:xfrm>
            <a:off x="6309360" y="2587752"/>
            <a:ext cx="2423160" cy="1417320"/>
          </a:xfrm>
          <a:prstGeom prst="rect">
            <a:avLst/>
          </a:prstGeom>
          <a:noFill/>
          <a:ln/>
        </p:spPr>
        <p:txBody>
          <a:bodyPr wrap="square"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Nordhaven and LumaPay have different AI strategies, risk appetites, and ethics. If unreconciled, 'you'll end up with gaps where nobody is truly accountable.' If you cannot name an accountable owner for a lifecycle stage post-deal, 'assume that's where the next incident will happen.'</a:t>
            </a:r>
            <a:endParaRPr lang="en-US" sz="950" dirty="0"/>
          </a:p>
        </p:txBody>
      </p:sp>
      <p:sp>
        <p:nvSpPr>
          <p:cNvPr id="26" name="Text 24"/>
          <p:cNvSpPr/>
          <p:nvPr/>
        </p:nvSpPr>
        <p:spPr>
          <a:xfrm>
            <a:off x="6309360" y="4087368"/>
            <a:ext cx="2423160" cy="292608"/>
          </a:xfrm>
          <a:prstGeom prst="rect">
            <a:avLst/>
          </a:prstGeom>
          <a:noFill/>
          <a:ln/>
        </p:spPr>
        <p:txBody>
          <a:bodyPr wrap="square" rtlCol="0" anchor="b"/>
          <a:lstStyle/>
          <a:p>
            <a:pPr marL="0" indent="0" algn="l">
              <a:buNone/>
            </a:pPr>
            <a:r>
              <a:rPr lang="en-US" sz="750" i="1" dirty="0">
                <a:solidFill>
                  <a:srgbClr val="94A3B8"/>
                </a:solidFill>
                <a:latin typeface="Calibri" pitchFamily="34" charset="0"/>
                <a:ea typeface="Calibri" pitchFamily="34" charset="-122"/>
                <a:cs typeface="Calibri" pitchFamily="34" charset="-120"/>
              </a:rPr>
              <a:t>Bıçakçı, Day 5 </a:t>
            </a:r>
            <a:r>
              <a:rPr lang="en-US" sz="750" i="1" dirty="0" err="1">
                <a:solidFill>
                  <a:srgbClr val="94A3B8"/>
                </a:solidFill>
                <a:latin typeface="Calibri" pitchFamily="34" charset="0"/>
                <a:ea typeface="Calibri" pitchFamily="34" charset="-122"/>
                <a:cs typeface="Calibri" pitchFamily="34" charset="-120"/>
              </a:rPr>
              <a:t>Sess</a:t>
            </a:r>
            <a:r>
              <a:rPr lang="en-US" sz="750" i="1" dirty="0">
                <a:solidFill>
                  <a:srgbClr val="94A3B8"/>
                </a:solidFill>
                <a:latin typeface="Calibri" pitchFamily="34" charset="0"/>
                <a:ea typeface="Calibri" pitchFamily="34" charset="-122"/>
                <a:cs typeface="Calibri" pitchFamily="34" charset="-120"/>
              </a:rPr>
              <a:t> 3, (misalignment) &amp; (lifecycle rule of thumb)</a:t>
            </a:r>
            <a:endParaRPr lang="en-US" sz="750" dirty="0"/>
          </a:p>
        </p:txBody>
      </p:sp>
      <p:sp>
        <p:nvSpPr>
          <p:cNvPr id="27" name="Text 25"/>
          <p:cNvSpPr/>
          <p:nvPr/>
        </p:nvSpPr>
        <p:spPr>
          <a:xfrm>
            <a:off x="457200" y="4846320"/>
            <a:ext cx="8229600" cy="256032"/>
          </a:xfrm>
          <a:prstGeom prst="rect">
            <a:avLst/>
          </a:prstGeom>
          <a:noFill/>
          <a:ln/>
        </p:spPr>
        <p:txBody>
          <a:bodyPr wrap="square" rtlCol="0" anchor="b"/>
          <a:lstStyle/>
          <a:p>
            <a:pPr marL="0" indent="0" algn="l">
              <a:buNone/>
            </a:pPr>
            <a:r>
              <a:rPr lang="en-US" sz="750" i="1" dirty="0">
                <a:solidFill>
                  <a:srgbClr val="94A3B8"/>
                </a:solidFill>
              </a:rPr>
              <a:t>Source: EAIRM Framework p.2; Bıçakçı, Day 5 </a:t>
            </a:r>
            <a:r>
              <a:rPr lang="en-US" sz="750" i="1" dirty="0" err="1">
                <a:solidFill>
                  <a:srgbClr val="94A3B8"/>
                </a:solidFill>
              </a:rPr>
              <a:t>Sess</a:t>
            </a:r>
            <a:r>
              <a:rPr lang="en-US" sz="750" i="1" dirty="0">
                <a:solidFill>
                  <a:srgbClr val="94A3B8"/>
                </a:solidFill>
              </a:rPr>
              <a:t> 3; Submission Guidance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554480" cy="256032"/>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201168"/>
            <a:ext cx="1554480" cy="256032"/>
          </a:xfrm>
          <a:prstGeom prst="rect">
            <a:avLst/>
          </a:prstGeom>
          <a:noFill/>
          <a:ln/>
        </p:spPr>
        <p:txBody>
          <a:bodyPr wrap="square" lIns="0" tIns="0" rIns="0" bIns="0" rtlCol="0" anchor="ctr"/>
          <a:lstStyle/>
          <a:p>
            <a:pPr marL="0" indent="0" algn="ctr">
              <a:buNone/>
            </a:pPr>
            <a:r>
              <a:rPr lang="en-US" sz="750" b="1" dirty="0">
                <a:solidFill>
                  <a:srgbClr val="FFFFFF"/>
                </a:solidFill>
              </a:rPr>
              <a:t>G2  ·  GAP ASSESSMENT</a:t>
            </a:r>
            <a:endParaRPr lang="en-US" sz="750" dirty="0"/>
          </a:p>
        </p:txBody>
      </p:sp>
      <p:sp>
        <p:nvSpPr>
          <p:cNvPr id="4" name="Text 2"/>
          <p:cNvSpPr/>
          <p:nvPr/>
        </p:nvSpPr>
        <p:spPr>
          <a:xfrm>
            <a:off x="457200" y="512064"/>
            <a:ext cx="8229600" cy="658368"/>
          </a:xfrm>
          <a:prstGeom prst="rect">
            <a:avLst/>
          </a:prstGeom>
          <a:noFill/>
          <a:ln/>
        </p:spPr>
        <p:txBody>
          <a:bodyPr wrap="square" rtlCol="0" anchor="ctr"/>
          <a:lstStyle/>
          <a:p>
            <a:pPr marL="0" indent="0" algn="l">
              <a:buNone/>
            </a:pPr>
            <a:r>
              <a:rPr lang="en-US" sz="2400" b="1" dirty="0">
                <a:solidFill>
                  <a:srgbClr val="1C2951"/>
                </a:solidFill>
                <a:latin typeface="Calibri" pitchFamily="34" charset="0"/>
                <a:ea typeface="Calibri" pitchFamily="34" charset="-122"/>
                <a:cs typeface="Calibri" pitchFamily="34" charset="-120"/>
              </a:rPr>
              <a:t>Governance Gap Assessment: Nordhaven vs LumaPay</a:t>
            </a:r>
            <a:endParaRPr lang="en-US" sz="2400" dirty="0"/>
          </a:p>
        </p:txBody>
      </p:sp>
      <p:sp>
        <p:nvSpPr>
          <p:cNvPr id="5" name="Shape 3"/>
          <p:cNvSpPr/>
          <p:nvPr/>
        </p:nvSpPr>
        <p:spPr>
          <a:xfrm>
            <a:off x="457200" y="1207008"/>
            <a:ext cx="8229600" cy="27432"/>
          </a:xfrm>
          <a:prstGeom prst="rect">
            <a:avLst/>
          </a:prstGeom>
          <a:solidFill>
            <a:srgbClr val="CBD5E1"/>
          </a:solidFill>
          <a:ln w="12700">
            <a:solidFill>
              <a:srgbClr val="CBD5E1"/>
            </a:solidFill>
            <a:prstDash val="solid"/>
          </a:ln>
        </p:spPr>
        <p:txBody>
          <a:bodyPr/>
          <a:lstStyle/>
          <a:p>
            <a:endParaRPr lang="en-US"/>
          </a:p>
        </p:txBody>
      </p:sp>
      <p:sp>
        <p:nvSpPr>
          <p:cNvPr id="6" name="Shape 4"/>
          <p:cNvSpPr/>
          <p:nvPr/>
        </p:nvSpPr>
        <p:spPr>
          <a:xfrm>
            <a:off x="320040" y="1280160"/>
            <a:ext cx="1920240" cy="640080"/>
          </a:xfrm>
          <a:prstGeom prst="rect">
            <a:avLst/>
          </a:prstGeom>
          <a:solidFill>
            <a:srgbClr val="16A34A"/>
          </a:solidFill>
          <a:ln w="12700">
            <a:solidFill>
              <a:srgbClr val="16A34A"/>
            </a:solidFill>
            <a:prstDash val="solid"/>
          </a:ln>
        </p:spPr>
        <p:txBody>
          <a:bodyPr/>
          <a:lstStyle/>
          <a:p>
            <a:endParaRPr lang="en-US"/>
          </a:p>
        </p:txBody>
      </p:sp>
      <p:sp>
        <p:nvSpPr>
          <p:cNvPr id="7" name="Text 5"/>
          <p:cNvSpPr/>
          <p:nvPr/>
        </p:nvSpPr>
        <p:spPr>
          <a:xfrm>
            <a:off x="320040" y="1280160"/>
            <a:ext cx="1920240" cy="640080"/>
          </a:xfrm>
          <a:prstGeom prst="rect">
            <a:avLst/>
          </a:prstGeom>
          <a:noFill/>
          <a:ln/>
        </p:spPr>
        <p:txBody>
          <a:bodyPr wrap="square" lIns="0" tIns="0" rIns="0" bIns="0" rtlCol="0" anchor="ctr"/>
          <a:lstStyle/>
          <a:p>
            <a:pPr marL="0" indent="0" algn="ctr">
              <a:buNone/>
            </a:pPr>
            <a:r>
              <a:rPr lang="en-US" sz="850" b="1" dirty="0">
                <a:solidFill>
                  <a:srgbClr val="FFFFFF"/>
                </a:solidFill>
              </a:rPr>
              <a:t>NORDHAVEN</a:t>
            </a:r>
            <a:endParaRPr lang="en-US" sz="850" dirty="0"/>
          </a:p>
          <a:p>
            <a:pPr marL="0" indent="0" algn="ctr">
              <a:buNone/>
            </a:pPr>
            <a:r>
              <a:rPr lang="en-US" sz="850" b="1" dirty="0">
                <a:solidFill>
                  <a:srgbClr val="FFFFFF"/>
                </a:solidFill>
              </a:rPr>
              <a:t>Level 3–4: Structured → Integrated</a:t>
            </a:r>
            <a:endParaRPr lang="en-US" sz="850" dirty="0"/>
          </a:p>
        </p:txBody>
      </p:sp>
      <p:sp>
        <p:nvSpPr>
          <p:cNvPr id="8" name="Shape 6"/>
          <p:cNvSpPr/>
          <p:nvPr/>
        </p:nvSpPr>
        <p:spPr>
          <a:xfrm>
            <a:off x="2331720" y="1280160"/>
            <a:ext cx="1920240" cy="640080"/>
          </a:xfrm>
          <a:prstGeom prst="rect">
            <a:avLst/>
          </a:prstGeom>
          <a:solidFill>
            <a:srgbClr val="DC2626"/>
          </a:solidFill>
          <a:ln w="12700">
            <a:solidFill>
              <a:srgbClr val="DC2626"/>
            </a:solidFill>
            <a:prstDash val="solid"/>
          </a:ln>
        </p:spPr>
        <p:txBody>
          <a:bodyPr/>
          <a:lstStyle/>
          <a:p>
            <a:endParaRPr lang="en-US"/>
          </a:p>
        </p:txBody>
      </p:sp>
      <p:sp>
        <p:nvSpPr>
          <p:cNvPr id="9" name="Text 7"/>
          <p:cNvSpPr/>
          <p:nvPr/>
        </p:nvSpPr>
        <p:spPr>
          <a:xfrm>
            <a:off x="2331720" y="1280160"/>
            <a:ext cx="1920240" cy="640080"/>
          </a:xfrm>
          <a:prstGeom prst="rect">
            <a:avLst/>
          </a:prstGeom>
          <a:noFill/>
          <a:ln/>
        </p:spPr>
        <p:txBody>
          <a:bodyPr wrap="square" lIns="0" tIns="0" rIns="0" bIns="0" rtlCol="0" anchor="ctr"/>
          <a:lstStyle/>
          <a:p>
            <a:pPr marL="0" indent="0" algn="ctr">
              <a:buNone/>
            </a:pPr>
            <a:r>
              <a:rPr lang="en-US" sz="850" b="1" dirty="0">
                <a:solidFill>
                  <a:srgbClr val="FFFFFF"/>
                </a:solidFill>
              </a:rPr>
              <a:t>LUMAPAY</a:t>
            </a:r>
            <a:endParaRPr lang="en-US" sz="850" dirty="0"/>
          </a:p>
          <a:p>
            <a:pPr marL="0" indent="0" algn="ctr">
              <a:buNone/>
            </a:pPr>
            <a:r>
              <a:rPr lang="en-US" sz="850" b="1" dirty="0">
                <a:solidFill>
                  <a:srgbClr val="FFFFFF"/>
                </a:solidFill>
              </a:rPr>
              <a:t>Level 1–2: Ad Hoc → Aware</a:t>
            </a:r>
            <a:endParaRPr lang="en-US" sz="850" dirty="0"/>
          </a:p>
        </p:txBody>
      </p:sp>
      <p:sp>
        <p:nvSpPr>
          <p:cNvPr id="10" name="Shape 8"/>
          <p:cNvSpPr/>
          <p:nvPr/>
        </p:nvSpPr>
        <p:spPr>
          <a:xfrm>
            <a:off x="4389120" y="1280160"/>
            <a:ext cx="4389120" cy="640080"/>
          </a:xfrm>
          <a:prstGeom prst="rect">
            <a:avLst/>
          </a:prstGeom>
          <a:solidFill>
            <a:srgbClr val="FEF9C3"/>
          </a:solidFill>
          <a:ln w="12700">
            <a:solidFill>
              <a:srgbClr val="F59E0B"/>
            </a:solidFill>
            <a:prstDash val="solid"/>
          </a:ln>
        </p:spPr>
        <p:txBody>
          <a:bodyPr/>
          <a:lstStyle/>
          <a:p>
            <a:endParaRPr lang="en-US"/>
          </a:p>
        </p:txBody>
      </p:sp>
      <p:sp>
        <p:nvSpPr>
          <p:cNvPr id="11" name="Text 9"/>
          <p:cNvSpPr/>
          <p:nvPr/>
        </p:nvSpPr>
        <p:spPr>
          <a:xfrm>
            <a:off x="4434840" y="1280160"/>
            <a:ext cx="4297680" cy="640080"/>
          </a:xfrm>
          <a:prstGeom prst="rect">
            <a:avLst/>
          </a:prstGeom>
          <a:noFill/>
          <a:ln/>
        </p:spPr>
        <p:txBody>
          <a:bodyPr wrap="square" rtlCol="0" anchor="ctr"/>
          <a:lstStyle/>
          <a:p>
            <a:pPr marL="0" indent="0" algn="l">
              <a:buNone/>
            </a:pPr>
            <a:r>
              <a:rPr lang="en-US" sz="800" dirty="0">
                <a:solidFill>
                  <a:srgbClr val="92400E"/>
                </a:solidFill>
              </a:rPr>
              <a:t>⚠ Assumption A1 (course-grounded): Maturity levels inferred from Bıçakçı's descriptions</a:t>
            </a:r>
            <a:endParaRPr lang="en-US" sz="800" dirty="0"/>
          </a:p>
          <a:p>
            <a:pPr marL="0" indent="0" algn="l">
              <a:buNone/>
            </a:pPr>
            <a:r>
              <a:rPr lang="en-US" sz="800" dirty="0">
                <a:solidFill>
                  <a:srgbClr val="92400E"/>
                </a:solidFill>
              </a:rPr>
              <a:t>(Day 5 </a:t>
            </a:r>
            <a:r>
              <a:rPr lang="en-US" sz="800" dirty="0" err="1">
                <a:solidFill>
                  <a:srgbClr val="92400E"/>
                </a:solidFill>
              </a:rPr>
              <a:t>Sess</a:t>
            </a:r>
            <a:r>
              <a:rPr lang="en-US" sz="800" dirty="0">
                <a:solidFill>
                  <a:srgbClr val="92400E"/>
                </a:solidFill>
              </a:rPr>
              <a:t> 3) using EAIRM Maturity Model (Framework p.12).</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555608345"/>
              </p:ext>
            </p:extLst>
          </p:nvPr>
        </p:nvGraphicFramePr>
        <p:xfrm>
          <a:off x="320040" y="2011680"/>
          <a:ext cx="8549640" cy="2523744"/>
        </p:xfrm>
        <a:graphic>
          <a:graphicData uri="http://schemas.openxmlformats.org/drawingml/2006/table">
            <a:tbl>
              <a:tblPr/>
              <a:tblGrid>
                <a:gridCol w="16916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20624">
                <a:tc>
                  <a:txBody>
                    <a:bodyPr/>
                    <a:lstStyle/>
                    <a:p>
                      <a:pPr marL="0" indent="0">
                        <a:buNone/>
                      </a:pPr>
                      <a:r>
                        <a:rPr lang="en-US" sz="900" b="1" dirty="0">
                          <a:solidFill>
                            <a:srgbClr val="FFFFFF"/>
                          </a:solidFill>
                        </a:rPr>
                        <a:t>Governance Dimension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900" b="1" dirty="0">
                          <a:solidFill>
                            <a:srgbClr val="FFFFFF"/>
                          </a:solidFill>
                        </a:rPr>
                        <a:t>Nordhaven (Brief-stated)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900" b="1" dirty="0" err="1">
                          <a:solidFill>
                            <a:srgbClr val="FFFFFF"/>
                          </a:solidFill>
                        </a:rPr>
                        <a:t>LumaPay</a:t>
                      </a:r>
                      <a:r>
                        <a:rPr lang="en-US" sz="900" b="1" dirty="0">
                          <a:solidFill>
                            <a:srgbClr val="FFFFFF"/>
                          </a:solidFill>
                        </a:rPr>
                        <a:t>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900" b="1" dirty="0">
                          <a:solidFill>
                            <a:srgbClr val="FFFFFF"/>
                          </a:solidFill>
                        </a:rPr>
                        <a:t>Integration Risk</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900" b="1" dirty="0">
                          <a:solidFill>
                            <a:srgbClr val="FFFFFF"/>
                          </a:solidFill>
                        </a:rPr>
                        <a:t>Primary Standard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extLst>
                  <a:ext uri="{0D108BD9-81ED-4DB2-BD59-A6C34878D82A}">
                    <a16:rowId xmlns:a16="http://schemas.microsoft.com/office/drawing/2014/main" val="10000"/>
                  </a:ext>
                </a:extLst>
              </a:tr>
              <a:tr h="420624">
                <a:tc>
                  <a:txBody>
                    <a:bodyPr/>
                    <a:lstStyle/>
                    <a:p>
                      <a:pPr marL="0" indent="0">
                        <a:buNone/>
                      </a:pPr>
                      <a:r>
                        <a:rPr lang="en-US" sz="850" dirty="0">
                          <a:solidFill>
                            <a:srgbClr val="000000"/>
                          </a:solidFill>
                        </a:rPr>
                        <a:t>Board-level AI accountability</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16A34A"/>
                          </a:solidFill>
                        </a:rPr>
                        <a:t>✔ Defined, SMCR-aligned</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DC2626"/>
                          </a:solidFill>
                        </a:rPr>
                        <a:t>✗ Absent / patchy</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b="1" dirty="0">
                          <a:solidFill>
                            <a:srgbClr val="DC2626"/>
                          </a:solidFill>
                        </a:rPr>
                        <a:t>HIGH — regulatory liability transfers on close</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UK Corp Gov Code; ISO/IEC 42001 Cl.5</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850" dirty="0">
                          <a:solidFill>
                            <a:srgbClr val="000000"/>
                          </a:solidFill>
                        </a:rPr>
                        <a:t>AI Risk Appetite Statement</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16A34A"/>
                          </a:solidFill>
                        </a:rPr>
                        <a:t>✔ Formal — ISO 31000/COSO-aligned (Brief Slides)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DC2626"/>
                          </a:solidFill>
                        </a:rPr>
                        <a:t>✗ Not evidenced</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b="1" dirty="0">
                          <a:solidFill>
                            <a:srgbClr val="DC2626"/>
                          </a:solidFill>
                        </a:rPr>
                        <a:t>HIGH — divergent thresholds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ISO 31000; NIST AI RMF GOVERN</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850" dirty="0">
                          <a:solidFill>
                            <a:srgbClr val="000000"/>
                          </a:solidFill>
                        </a:rPr>
                        <a:t>Decision Rights / RACI</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16A34A"/>
                          </a:solidFill>
                        </a:rPr>
                        <a:t>✔ Operating RACI</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DC2626"/>
                          </a:solidFill>
                        </a:rPr>
                        <a:t>✗ Not documented</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b="1" dirty="0">
                          <a:solidFill>
                            <a:srgbClr val="DC2626"/>
                          </a:solidFill>
                        </a:rPr>
                        <a:t>HIGH — orphaned lifecycle stages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NIST AI RMF GOVERN 2; Glossary §B</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850" dirty="0">
                          <a:solidFill>
                            <a:srgbClr val="000000"/>
                          </a:solidFill>
                        </a:rPr>
                        <a:t>Model documentation</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16A34A"/>
                          </a:solidFill>
                        </a:rPr>
                        <a:t>✔ Model cards present</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D97706"/>
                          </a:solidFill>
                        </a:rPr>
                        <a:t>~ Partial / absent</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b="1" dirty="0">
                          <a:solidFill>
                            <a:srgbClr val="DC2626"/>
                          </a:solidFill>
                        </a:rPr>
                        <a:t>HIGH — EU AI Act Art. 9 non-compliance</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EU AI Act Art. 9; ISO/IEC 42001 Cl.8</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850" dirty="0">
                          <a:solidFill>
                            <a:srgbClr val="000000"/>
                          </a:solidFill>
                        </a:rPr>
                        <a:t>Shadow AI inventory</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16A34A"/>
                          </a:solidFill>
                        </a:rPr>
                        <a:t>✔ Controlled</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DC2626"/>
                          </a:solidFill>
                        </a:rPr>
                        <a:t>✗ Unknown extent</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b="1" dirty="0">
                          <a:solidFill>
                            <a:srgbClr val="DC2626"/>
                          </a:solidFill>
                        </a:rPr>
                        <a:t>CRITICAL — full liability Day 1</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NIST AI RMF MAP; EAIRM §5.1</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Text 10"/>
          <p:cNvSpPr/>
          <p:nvPr/>
        </p:nvSpPr>
        <p:spPr>
          <a:xfrm>
            <a:off x="457200" y="4846320"/>
            <a:ext cx="8229600" cy="256032"/>
          </a:xfrm>
          <a:prstGeom prst="rect">
            <a:avLst/>
          </a:prstGeom>
          <a:noFill/>
          <a:ln/>
        </p:spPr>
        <p:txBody>
          <a:bodyPr wrap="square" rtlCol="0" anchor="b"/>
          <a:lstStyle/>
          <a:p>
            <a:pPr marL="0" indent="0" algn="l">
              <a:buNone/>
            </a:pPr>
            <a:r>
              <a:rPr lang="en-US" sz="750" i="1" dirty="0">
                <a:solidFill>
                  <a:srgbClr val="94A3B8"/>
                </a:solidFill>
              </a:rPr>
              <a:t>Source: EAIRM Maturity Model (Framework p.12 §9); Bıçakçı, Day 5 </a:t>
            </a:r>
            <a:r>
              <a:rPr lang="en-US" sz="750" i="1" dirty="0" err="1">
                <a:solidFill>
                  <a:srgbClr val="94A3B8"/>
                </a:solidFill>
              </a:rPr>
              <a:t>Sess</a:t>
            </a:r>
            <a:r>
              <a:rPr lang="en-US" sz="750" i="1" dirty="0">
                <a:solidFill>
                  <a:srgbClr val="94A3B8"/>
                </a:solidFill>
              </a:rPr>
              <a:t> 3; Brief Slides (Nordhaven profile: ISO 31000/COSO stated); EAIRM §5.1</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554480" cy="256032"/>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201168"/>
            <a:ext cx="1554480" cy="256032"/>
          </a:xfrm>
          <a:prstGeom prst="rect">
            <a:avLst/>
          </a:prstGeom>
          <a:noFill/>
          <a:ln/>
        </p:spPr>
        <p:txBody>
          <a:bodyPr wrap="square" lIns="0" tIns="0" rIns="0" bIns="0" rtlCol="0" anchor="ctr"/>
          <a:lstStyle/>
          <a:p>
            <a:pPr marL="0" indent="0" algn="ctr">
              <a:buNone/>
            </a:pPr>
            <a:r>
              <a:rPr lang="en-US" sz="750" b="1" dirty="0">
                <a:solidFill>
                  <a:srgbClr val="FFFFFF"/>
                </a:solidFill>
              </a:rPr>
              <a:t>G3  ·  GOVERNANCE ARCHITECTURE</a:t>
            </a:r>
            <a:endParaRPr lang="en-US" sz="750" dirty="0"/>
          </a:p>
        </p:txBody>
      </p:sp>
      <p:sp>
        <p:nvSpPr>
          <p:cNvPr id="4" name="Text 2"/>
          <p:cNvSpPr/>
          <p:nvPr/>
        </p:nvSpPr>
        <p:spPr>
          <a:xfrm>
            <a:off x="457200" y="512064"/>
            <a:ext cx="8229600" cy="658368"/>
          </a:xfrm>
          <a:prstGeom prst="rect">
            <a:avLst/>
          </a:prstGeom>
          <a:noFill/>
          <a:ln/>
        </p:spPr>
        <p:txBody>
          <a:bodyPr wrap="square" rtlCol="0" anchor="ctr"/>
          <a:lstStyle/>
          <a:p>
            <a:pPr marL="0" indent="0" algn="l">
              <a:buNone/>
            </a:pPr>
            <a:r>
              <a:rPr lang="en-US" sz="2300" b="1" dirty="0">
                <a:solidFill>
                  <a:srgbClr val="1C2951"/>
                </a:solidFill>
                <a:latin typeface="Calibri" pitchFamily="34" charset="0"/>
                <a:ea typeface="Calibri" pitchFamily="34" charset="-122"/>
                <a:cs typeface="Calibri" pitchFamily="34" charset="-120"/>
              </a:rPr>
              <a:t>Five Governance Choices for the Combined Entity</a:t>
            </a:r>
            <a:endParaRPr lang="en-US" sz="2300" dirty="0"/>
          </a:p>
        </p:txBody>
      </p:sp>
      <p:sp>
        <p:nvSpPr>
          <p:cNvPr id="5" name="Shape 3"/>
          <p:cNvSpPr/>
          <p:nvPr/>
        </p:nvSpPr>
        <p:spPr>
          <a:xfrm>
            <a:off x="457200" y="1207008"/>
            <a:ext cx="8229600" cy="27432"/>
          </a:xfrm>
          <a:prstGeom prst="rect">
            <a:avLst/>
          </a:prstGeom>
          <a:solidFill>
            <a:srgbClr val="CBD5E1"/>
          </a:solidFill>
          <a:ln w="12700">
            <a:solidFill>
              <a:srgbClr val="CBD5E1"/>
            </a:solidFill>
            <a:prstDash val="solid"/>
          </a:ln>
        </p:spPr>
        <p:txBody>
          <a:bodyPr/>
          <a:lstStyle/>
          <a:p>
            <a:endParaRPr lang="en-US"/>
          </a:p>
        </p:txBody>
      </p:sp>
      <p:sp>
        <p:nvSpPr>
          <p:cNvPr id="6" name="Shape 4"/>
          <p:cNvSpPr/>
          <p:nvPr/>
        </p:nvSpPr>
        <p:spPr>
          <a:xfrm>
            <a:off x="320040" y="1261872"/>
            <a:ext cx="4069080" cy="329184"/>
          </a:xfrm>
          <a:prstGeom prst="rect">
            <a:avLst/>
          </a:prstGeom>
          <a:solidFill>
            <a:srgbClr val="1C2951"/>
          </a:solidFill>
          <a:ln w="12700">
            <a:solidFill>
              <a:srgbClr val="1C2951"/>
            </a:solidFill>
            <a:prstDash val="solid"/>
          </a:ln>
        </p:spPr>
        <p:txBody>
          <a:bodyPr/>
          <a:lstStyle/>
          <a:p>
            <a:endParaRPr lang="en-US"/>
          </a:p>
        </p:txBody>
      </p:sp>
      <p:sp>
        <p:nvSpPr>
          <p:cNvPr id="7" name="Text 5"/>
          <p:cNvSpPr/>
          <p:nvPr/>
        </p:nvSpPr>
        <p:spPr>
          <a:xfrm>
            <a:off x="320040" y="1261872"/>
            <a:ext cx="4069080" cy="329184"/>
          </a:xfrm>
          <a:prstGeom prst="rect">
            <a:avLst/>
          </a:prstGeom>
          <a:noFill/>
          <a:ln/>
        </p:spPr>
        <p:txBody>
          <a:bodyPr wrap="square" lIns="0" tIns="0" rIns="0" bIns="0" rtlCol="0" anchor="ctr"/>
          <a:lstStyle/>
          <a:p>
            <a:pPr marL="0" indent="0" algn="ctr">
              <a:buNone/>
            </a:pPr>
            <a:r>
              <a:rPr lang="en-US" sz="950" b="1" dirty="0">
                <a:solidFill>
                  <a:srgbClr val="FFFFFF"/>
                </a:solidFill>
              </a:rPr>
              <a:t>BOARD LAYER — set annually</a:t>
            </a:r>
            <a:endParaRPr lang="en-US" sz="950" dirty="0"/>
          </a:p>
        </p:txBody>
      </p:sp>
      <p:sp>
        <p:nvSpPr>
          <p:cNvPr id="8" name="Shape 6"/>
          <p:cNvSpPr/>
          <p:nvPr/>
        </p:nvSpPr>
        <p:spPr>
          <a:xfrm>
            <a:off x="320040" y="1645920"/>
            <a:ext cx="4069080" cy="850392"/>
          </a:xfrm>
          <a:prstGeom prst="rect">
            <a:avLst/>
          </a:prstGeom>
          <a:solidFill>
            <a:srgbClr val="F4F7FC"/>
          </a:solidFill>
          <a:ln w="9525">
            <a:solidFill>
              <a:srgbClr val="CBD5E1"/>
            </a:solidFill>
            <a:prstDash val="solid"/>
          </a:ln>
        </p:spPr>
        <p:txBody>
          <a:bodyPr/>
          <a:lstStyle/>
          <a:p>
            <a:endParaRPr lang="en-US" dirty="0"/>
          </a:p>
        </p:txBody>
      </p:sp>
      <p:sp>
        <p:nvSpPr>
          <p:cNvPr id="9" name="Shape 7"/>
          <p:cNvSpPr/>
          <p:nvPr/>
        </p:nvSpPr>
        <p:spPr>
          <a:xfrm>
            <a:off x="320040" y="1645920"/>
            <a:ext cx="274320" cy="850392"/>
          </a:xfrm>
          <a:prstGeom prst="rect">
            <a:avLst/>
          </a:prstGeom>
          <a:solidFill>
            <a:srgbClr val="1D4ED8"/>
          </a:solidFill>
          <a:ln w="12700">
            <a:solidFill>
              <a:srgbClr val="1D4ED8"/>
            </a:solidFill>
            <a:prstDash val="solid"/>
          </a:ln>
        </p:spPr>
        <p:txBody>
          <a:bodyPr/>
          <a:lstStyle/>
          <a:p>
            <a:endParaRPr lang="en-US"/>
          </a:p>
        </p:txBody>
      </p:sp>
      <p:sp>
        <p:nvSpPr>
          <p:cNvPr id="10" name="Text 8"/>
          <p:cNvSpPr/>
          <p:nvPr/>
        </p:nvSpPr>
        <p:spPr>
          <a:xfrm>
            <a:off x="320040" y="1645920"/>
            <a:ext cx="274320" cy="850392"/>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1" name="Text 9"/>
          <p:cNvSpPr/>
          <p:nvPr/>
        </p:nvSpPr>
        <p:spPr>
          <a:xfrm>
            <a:off x="640080" y="1682496"/>
            <a:ext cx="3657600" cy="201168"/>
          </a:xfrm>
          <a:prstGeom prst="rect">
            <a:avLst/>
          </a:prstGeom>
          <a:noFill/>
          <a:ln/>
        </p:spPr>
        <p:txBody>
          <a:bodyPr wrap="square" rtlCol="0" anchor="t"/>
          <a:lstStyle/>
          <a:p>
            <a:pPr marL="0" indent="0" algn="l">
              <a:buNone/>
            </a:pPr>
            <a:r>
              <a:rPr lang="en-US" sz="1000" b="1" dirty="0">
                <a:solidFill>
                  <a:srgbClr val="1C2951"/>
                </a:solidFill>
              </a:rPr>
              <a:t>Accountability</a:t>
            </a:r>
            <a:endParaRPr lang="en-US" sz="1000" dirty="0"/>
          </a:p>
        </p:txBody>
      </p:sp>
      <p:sp>
        <p:nvSpPr>
          <p:cNvPr id="12" name="Text 10"/>
          <p:cNvSpPr/>
          <p:nvPr/>
        </p:nvSpPr>
        <p:spPr>
          <a:xfrm>
            <a:off x="640080" y="1883664"/>
            <a:ext cx="3657600" cy="420624"/>
          </a:xfrm>
          <a:prstGeom prst="rect">
            <a:avLst/>
          </a:prstGeom>
          <a:noFill/>
          <a:ln/>
        </p:spPr>
        <p:txBody>
          <a:bodyPr wrap="square" rtlCol="0" anchor="t"/>
          <a:lstStyle/>
          <a:p>
            <a:pPr marL="0" indent="0" algn="l">
              <a:buNone/>
            </a:pPr>
            <a:r>
              <a:rPr lang="en-US" sz="800" dirty="0">
                <a:solidFill>
                  <a:srgbClr val="1E293B"/>
                </a:solidFill>
              </a:rPr>
              <a:t>Named SMF-designated role (proposed: Group CRO or equivalent) accountable for AI risk estate. 80% acquisition = full governance responsibility from Day 1.</a:t>
            </a:r>
            <a:endParaRPr lang="en-US" sz="800" dirty="0"/>
          </a:p>
        </p:txBody>
      </p:sp>
      <p:sp>
        <p:nvSpPr>
          <p:cNvPr id="13" name="Text 11"/>
          <p:cNvSpPr/>
          <p:nvPr/>
        </p:nvSpPr>
        <p:spPr>
          <a:xfrm>
            <a:off x="640080" y="2187938"/>
            <a:ext cx="3657600" cy="182880"/>
          </a:xfrm>
          <a:prstGeom prst="rect">
            <a:avLst/>
          </a:prstGeom>
          <a:noFill/>
          <a:ln/>
        </p:spPr>
        <p:txBody>
          <a:bodyPr wrap="square" rtlCol="0" anchor="t"/>
          <a:lstStyle/>
          <a:p>
            <a:pPr marL="0" indent="0" algn="l">
              <a:buNone/>
            </a:pPr>
            <a:r>
              <a:rPr lang="en-US" sz="700" i="1" dirty="0">
                <a:solidFill>
                  <a:srgbClr val="94A3B8"/>
                </a:solidFill>
              </a:rPr>
              <a:t>UK Corp Gov Code · ISO/IEC 42001 Cl.5 · ⚠ SMCR roles: Kok's anticipated requirements (Day 3 Sess 2, Slide p.15) — not yet formally mandated</a:t>
            </a:r>
            <a:endParaRPr lang="en-US" sz="700" dirty="0"/>
          </a:p>
        </p:txBody>
      </p:sp>
      <p:sp>
        <p:nvSpPr>
          <p:cNvPr id="14" name="Shape 12"/>
          <p:cNvSpPr/>
          <p:nvPr/>
        </p:nvSpPr>
        <p:spPr>
          <a:xfrm>
            <a:off x="320040" y="2523744"/>
            <a:ext cx="4069080" cy="850392"/>
          </a:xfrm>
          <a:prstGeom prst="rect">
            <a:avLst/>
          </a:prstGeom>
          <a:solidFill>
            <a:srgbClr val="F4F7FC"/>
          </a:solidFill>
          <a:ln w="9525">
            <a:solidFill>
              <a:srgbClr val="CBD5E1"/>
            </a:solidFill>
            <a:prstDash val="solid"/>
          </a:ln>
        </p:spPr>
        <p:txBody>
          <a:bodyPr/>
          <a:lstStyle/>
          <a:p>
            <a:endParaRPr lang="en-US"/>
          </a:p>
        </p:txBody>
      </p:sp>
      <p:sp>
        <p:nvSpPr>
          <p:cNvPr id="15" name="Shape 13"/>
          <p:cNvSpPr/>
          <p:nvPr/>
        </p:nvSpPr>
        <p:spPr>
          <a:xfrm>
            <a:off x="320040" y="2523744"/>
            <a:ext cx="274320" cy="850392"/>
          </a:xfrm>
          <a:prstGeom prst="rect">
            <a:avLst/>
          </a:prstGeom>
          <a:solidFill>
            <a:srgbClr val="1D4ED8"/>
          </a:solidFill>
          <a:ln w="12700">
            <a:solidFill>
              <a:srgbClr val="1D4ED8"/>
            </a:solidFill>
            <a:prstDash val="solid"/>
          </a:ln>
        </p:spPr>
        <p:txBody>
          <a:bodyPr/>
          <a:lstStyle/>
          <a:p>
            <a:endParaRPr lang="en-US"/>
          </a:p>
        </p:txBody>
      </p:sp>
      <p:sp>
        <p:nvSpPr>
          <p:cNvPr id="16" name="Text 14"/>
          <p:cNvSpPr/>
          <p:nvPr/>
        </p:nvSpPr>
        <p:spPr>
          <a:xfrm>
            <a:off x="320040" y="2523744"/>
            <a:ext cx="274320" cy="850392"/>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7" name="Text 15"/>
          <p:cNvSpPr/>
          <p:nvPr/>
        </p:nvSpPr>
        <p:spPr>
          <a:xfrm>
            <a:off x="640080" y="2560320"/>
            <a:ext cx="3657600" cy="201168"/>
          </a:xfrm>
          <a:prstGeom prst="rect">
            <a:avLst/>
          </a:prstGeom>
          <a:noFill/>
          <a:ln/>
        </p:spPr>
        <p:txBody>
          <a:bodyPr wrap="square" rtlCol="0" anchor="t"/>
          <a:lstStyle/>
          <a:p>
            <a:pPr marL="0" indent="0" algn="l">
              <a:buNone/>
            </a:pPr>
            <a:r>
              <a:rPr lang="en-US" sz="1000" b="1" dirty="0">
                <a:solidFill>
                  <a:srgbClr val="1C2951"/>
                </a:solidFill>
              </a:rPr>
              <a:t>Risk Appetite</a:t>
            </a:r>
            <a:endParaRPr lang="en-US" sz="1000" dirty="0"/>
          </a:p>
        </p:txBody>
      </p:sp>
      <p:sp>
        <p:nvSpPr>
          <p:cNvPr id="18" name="Text 16"/>
          <p:cNvSpPr/>
          <p:nvPr/>
        </p:nvSpPr>
        <p:spPr>
          <a:xfrm>
            <a:off x="640080" y="2761488"/>
            <a:ext cx="3657600" cy="420624"/>
          </a:xfrm>
          <a:prstGeom prst="rect">
            <a:avLst/>
          </a:prstGeom>
          <a:noFill/>
          <a:ln/>
        </p:spPr>
        <p:txBody>
          <a:bodyPr wrap="square" rtlCol="0" anchor="t"/>
          <a:lstStyle/>
          <a:p>
            <a:pPr marL="0" indent="0" algn="l">
              <a:buNone/>
            </a:pPr>
            <a:r>
              <a:rPr lang="en-US" sz="800" dirty="0">
                <a:solidFill>
                  <a:srgbClr val="1E293B"/>
                </a:solidFill>
              </a:rPr>
              <a:t>Quantified thresholds for five substrate properties using LIMIT/CAUTION/TARGET RAG bands. See G4. ⚠ RAG band terminology: BCG-originated (Kok, Day 3 Sess 2, Slide p.19) — not in EAIRM Glossary.</a:t>
            </a:r>
            <a:endParaRPr lang="en-US" sz="800" dirty="0"/>
          </a:p>
        </p:txBody>
      </p:sp>
      <p:sp>
        <p:nvSpPr>
          <p:cNvPr id="19" name="Text 17"/>
          <p:cNvSpPr/>
          <p:nvPr/>
        </p:nvSpPr>
        <p:spPr>
          <a:xfrm>
            <a:off x="640080" y="3191256"/>
            <a:ext cx="3657600" cy="182880"/>
          </a:xfrm>
          <a:prstGeom prst="rect">
            <a:avLst/>
          </a:prstGeom>
          <a:noFill/>
          <a:ln/>
        </p:spPr>
        <p:txBody>
          <a:bodyPr wrap="square" rtlCol="0" anchor="t"/>
          <a:lstStyle/>
          <a:p>
            <a:pPr marL="0" indent="0" algn="l">
              <a:buNone/>
            </a:pPr>
            <a:r>
              <a:rPr lang="en-US" sz="700" i="1" dirty="0">
                <a:solidFill>
                  <a:srgbClr val="94A3B8"/>
                </a:solidFill>
              </a:rPr>
              <a:t>ISO 31000 · COSO ERM · NIST AI RMF GOVERN</a:t>
            </a:r>
            <a:endParaRPr lang="en-US" sz="700" dirty="0"/>
          </a:p>
        </p:txBody>
      </p:sp>
      <p:sp>
        <p:nvSpPr>
          <p:cNvPr id="20" name="Shape 18"/>
          <p:cNvSpPr/>
          <p:nvPr/>
        </p:nvSpPr>
        <p:spPr>
          <a:xfrm>
            <a:off x="320040" y="3401568"/>
            <a:ext cx="4069080" cy="850392"/>
          </a:xfrm>
          <a:prstGeom prst="rect">
            <a:avLst/>
          </a:prstGeom>
          <a:solidFill>
            <a:srgbClr val="F4F7FC"/>
          </a:solidFill>
          <a:ln w="9525">
            <a:solidFill>
              <a:srgbClr val="CBD5E1"/>
            </a:solidFill>
            <a:prstDash val="solid"/>
          </a:ln>
        </p:spPr>
        <p:txBody>
          <a:bodyPr/>
          <a:lstStyle/>
          <a:p>
            <a:endParaRPr lang="en-US"/>
          </a:p>
        </p:txBody>
      </p:sp>
      <p:sp>
        <p:nvSpPr>
          <p:cNvPr id="21" name="Shape 19"/>
          <p:cNvSpPr/>
          <p:nvPr/>
        </p:nvSpPr>
        <p:spPr>
          <a:xfrm>
            <a:off x="320040" y="3401568"/>
            <a:ext cx="274320" cy="850392"/>
          </a:xfrm>
          <a:prstGeom prst="rect">
            <a:avLst/>
          </a:prstGeom>
          <a:solidFill>
            <a:srgbClr val="1D4ED8"/>
          </a:solidFill>
          <a:ln w="12700">
            <a:solidFill>
              <a:srgbClr val="1D4ED8"/>
            </a:solidFill>
            <a:prstDash val="solid"/>
          </a:ln>
        </p:spPr>
        <p:txBody>
          <a:bodyPr/>
          <a:lstStyle/>
          <a:p>
            <a:endParaRPr lang="en-US"/>
          </a:p>
        </p:txBody>
      </p:sp>
      <p:sp>
        <p:nvSpPr>
          <p:cNvPr id="22" name="Text 20"/>
          <p:cNvSpPr/>
          <p:nvPr/>
        </p:nvSpPr>
        <p:spPr>
          <a:xfrm>
            <a:off x="320040" y="3401568"/>
            <a:ext cx="274320" cy="850392"/>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3" name="Text 21"/>
          <p:cNvSpPr/>
          <p:nvPr/>
        </p:nvSpPr>
        <p:spPr>
          <a:xfrm>
            <a:off x="640080" y="3438144"/>
            <a:ext cx="3657600" cy="201168"/>
          </a:xfrm>
          <a:prstGeom prst="rect">
            <a:avLst/>
          </a:prstGeom>
          <a:noFill/>
          <a:ln/>
        </p:spPr>
        <p:txBody>
          <a:bodyPr wrap="square" rtlCol="0" anchor="t"/>
          <a:lstStyle/>
          <a:p>
            <a:pPr marL="0" indent="0" algn="l">
              <a:buNone/>
            </a:pPr>
            <a:r>
              <a:rPr lang="en-US" sz="1000" b="1" dirty="0">
                <a:solidFill>
                  <a:srgbClr val="1C2951"/>
                </a:solidFill>
              </a:rPr>
              <a:t>Reporting</a:t>
            </a:r>
            <a:endParaRPr lang="en-US" sz="1000" dirty="0"/>
          </a:p>
        </p:txBody>
      </p:sp>
      <p:sp>
        <p:nvSpPr>
          <p:cNvPr id="24" name="Text 22"/>
          <p:cNvSpPr/>
          <p:nvPr/>
        </p:nvSpPr>
        <p:spPr>
          <a:xfrm>
            <a:off x="640080" y="3639312"/>
            <a:ext cx="3657600" cy="420624"/>
          </a:xfrm>
          <a:prstGeom prst="rect">
            <a:avLst/>
          </a:prstGeom>
          <a:noFill/>
          <a:ln/>
        </p:spPr>
        <p:txBody>
          <a:bodyPr wrap="square" rtlCol="0" anchor="t"/>
          <a:lstStyle/>
          <a:p>
            <a:pPr marL="0" indent="0" algn="l">
              <a:buNone/>
            </a:pPr>
            <a:r>
              <a:rPr lang="en-US" sz="800" dirty="0">
                <a:solidFill>
                  <a:srgbClr val="1E293B"/>
                </a:solidFill>
              </a:rPr>
              <a:t>Board Risk Dashboard: residual risk across governance, operational, and cyber domains. Quarterly cadence; NIST AI RMF GOVERN/MAP/MEASURE/MANAGE structure with EU AI Act Art. 9 compliance status per system.</a:t>
            </a:r>
            <a:endParaRPr lang="en-US" sz="800" dirty="0"/>
          </a:p>
        </p:txBody>
      </p:sp>
      <p:sp>
        <p:nvSpPr>
          <p:cNvPr id="25" name="Text 23"/>
          <p:cNvSpPr/>
          <p:nvPr/>
        </p:nvSpPr>
        <p:spPr>
          <a:xfrm>
            <a:off x="640080" y="4069080"/>
            <a:ext cx="3657600" cy="182880"/>
          </a:xfrm>
          <a:prstGeom prst="rect">
            <a:avLst/>
          </a:prstGeom>
          <a:noFill/>
          <a:ln/>
        </p:spPr>
        <p:txBody>
          <a:bodyPr wrap="square" rtlCol="0" anchor="t"/>
          <a:lstStyle/>
          <a:p>
            <a:pPr marL="0" indent="0" algn="l">
              <a:buNone/>
            </a:pPr>
            <a:r>
              <a:rPr lang="en-US" sz="700" i="1" dirty="0">
                <a:solidFill>
                  <a:srgbClr val="94A3B8"/>
                </a:solidFill>
              </a:rPr>
              <a:t>EAIRM Framework §10.3 · NIST AI RMF GOVERN/MAP/MEASURE/MANAGE</a:t>
            </a:r>
            <a:endParaRPr lang="en-US" sz="700" dirty="0"/>
          </a:p>
        </p:txBody>
      </p:sp>
      <p:sp>
        <p:nvSpPr>
          <p:cNvPr id="26" name="Shape 24"/>
          <p:cNvSpPr/>
          <p:nvPr/>
        </p:nvSpPr>
        <p:spPr>
          <a:xfrm>
            <a:off x="4572000" y="1261872"/>
            <a:ext cx="4206240" cy="329184"/>
          </a:xfrm>
          <a:prstGeom prst="rect">
            <a:avLst/>
          </a:prstGeom>
          <a:solidFill>
            <a:srgbClr val="344D72"/>
          </a:solidFill>
          <a:ln w="12700">
            <a:solidFill>
              <a:srgbClr val="344D72"/>
            </a:solidFill>
            <a:prstDash val="solid"/>
          </a:ln>
        </p:spPr>
        <p:txBody>
          <a:bodyPr/>
          <a:lstStyle/>
          <a:p>
            <a:endParaRPr lang="en-US"/>
          </a:p>
        </p:txBody>
      </p:sp>
      <p:sp>
        <p:nvSpPr>
          <p:cNvPr id="27" name="Text 25"/>
          <p:cNvSpPr/>
          <p:nvPr/>
        </p:nvSpPr>
        <p:spPr>
          <a:xfrm>
            <a:off x="4572000" y="1261872"/>
            <a:ext cx="4206240" cy="329184"/>
          </a:xfrm>
          <a:prstGeom prst="rect">
            <a:avLst/>
          </a:prstGeom>
          <a:noFill/>
          <a:ln/>
        </p:spPr>
        <p:txBody>
          <a:bodyPr wrap="square" lIns="0" tIns="0" rIns="0" bIns="0" rtlCol="0" anchor="ctr"/>
          <a:lstStyle/>
          <a:p>
            <a:pPr marL="0" indent="0" algn="ctr">
              <a:buNone/>
            </a:pPr>
            <a:r>
              <a:rPr lang="en-US" sz="950" b="1" dirty="0">
                <a:solidFill>
                  <a:srgbClr val="FFFFFF"/>
                </a:solidFill>
              </a:rPr>
              <a:t>OPERATIONAL LAYER — refreshed quarterly</a:t>
            </a:r>
            <a:endParaRPr lang="en-US" sz="950" dirty="0"/>
          </a:p>
        </p:txBody>
      </p:sp>
      <p:sp>
        <p:nvSpPr>
          <p:cNvPr id="28" name="Shape 26"/>
          <p:cNvSpPr/>
          <p:nvPr/>
        </p:nvSpPr>
        <p:spPr>
          <a:xfrm>
            <a:off x="4572000" y="1645920"/>
            <a:ext cx="4206240" cy="1280160"/>
          </a:xfrm>
          <a:prstGeom prst="rect">
            <a:avLst/>
          </a:prstGeom>
          <a:solidFill>
            <a:srgbClr val="EEF2FF"/>
          </a:solidFill>
          <a:ln w="9525">
            <a:solidFill>
              <a:srgbClr val="CBD5E1"/>
            </a:solidFill>
            <a:prstDash val="solid"/>
          </a:ln>
        </p:spPr>
        <p:txBody>
          <a:bodyPr/>
          <a:lstStyle/>
          <a:p>
            <a:endParaRPr lang="en-US"/>
          </a:p>
        </p:txBody>
      </p:sp>
      <p:sp>
        <p:nvSpPr>
          <p:cNvPr id="29" name="Shape 27"/>
          <p:cNvSpPr/>
          <p:nvPr/>
        </p:nvSpPr>
        <p:spPr>
          <a:xfrm>
            <a:off x="4572000" y="1645920"/>
            <a:ext cx="274320" cy="1280160"/>
          </a:xfrm>
          <a:prstGeom prst="rect">
            <a:avLst/>
          </a:prstGeom>
          <a:solidFill>
            <a:srgbClr val="3B82F6"/>
          </a:solidFill>
          <a:ln w="12700">
            <a:solidFill>
              <a:srgbClr val="3B82F6"/>
            </a:solidFill>
            <a:prstDash val="solid"/>
          </a:ln>
        </p:spPr>
        <p:txBody>
          <a:bodyPr/>
          <a:lstStyle/>
          <a:p>
            <a:endParaRPr lang="en-US"/>
          </a:p>
        </p:txBody>
      </p:sp>
      <p:sp>
        <p:nvSpPr>
          <p:cNvPr id="30" name="Text 28"/>
          <p:cNvSpPr/>
          <p:nvPr/>
        </p:nvSpPr>
        <p:spPr>
          <a:xfrm>
            <a:off x="4572000" y="1645920"/>
            <a:ext cx="274320" cy="128016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31" name="Text 29"/>
          <p:cNvSpPr/>
          <p:nvPr/>
        </p:nvSpPr>
        <p:spPr>
          <a:xfrm>
            <a:off x="4892040" y="1682496"/>
            <a:ext cx="3794760" cy="201168"/>
          </a:xfrm>
          <a:prstGeom prst="rect">
            <a:avLst/>
          </a:prstGeom>
          <a:noFill/>
          <a:ln/>
        </p:spPr>
        <p:txBody>
          <a:bodyPr wrap="square" rtlCol="0" anchor="t"/>
          <a:lstStyle/>
          <a:p>
            <a:pPr marL="0" indent="0" algn="l">
              <a:buNone/>
            </a:pPr>
            <a:r>
              <a:rPr lang="en-US" sz="1000" b="1" dirty="0">
                <a:solidFill>
                  <a:srgbClr val="1C2951"/>
                </a:solidFill>
              </a:rPr>
              <a:t>Decision Rights</a:t>
            </a:r>
            <a:endParaRPr lang="en-US" sz="1000" dirty="0"/>
          </a:p>
        </p:txBody>
      </p:sp>
      <p:sp>
        <p:nvSpPr>
          <p:cNvPr id="32" name="Text 30"/>
          <p:cNvSpPr/>
          <p:nvPr/>
        </p:nvSpPr>
        <p:spPr>
          <a:xfrm>
            <a:off x="4892040" y="1883664"/>
            <a:ext cx="3794760" cy="694944"/>
          </a:xfrm>
          <a:prstGeom prst="rect">
            <a:avLst/>
          </a:prstGeom>
          <a:noFill/>
          <a:ln/>
        </p:spPr>
        <p:txBody>
          <a:bodyPr wrap="square" rtlCol="0" anchor="t"/>
          <a:lstStyle/>
          <a:p>
            <a:pPr marL="0" indent="0" algn="l">
              <a:buNone/>
            </a:pPr>
            <a:r>
              <a:rPr lang="en-US" sz="850" dirty="0">
                <a:solidFill>
                  <a:srgbClr val="1E293B"/>
                </a:solidFill>
              </a:rPr>
              <a:t>Unified RACI for all four LumaPay systems across six lifecycle stages. Tier-based approval authority: board ▸ ExCo ▸ business unit. Directly addresses 'who approves model deployments' and 'who owns the risk register' (</a:t>
            </a:r>
            <a:r>
              <a:rPr lang="en-US" sz="850" dirty="0" err="1">
                <a:solidFill>
                  <a:srgbClr val="1E293B"/>
                </a:solidFill>
              </a:rPr>
              <a:t>Bıçakçı</a:t>
            </a:r>
            <a:r>
              <a:rPr lang="en-US" sz="850" dirty="0">
                <a:solidFill>
                  <a:srgbClr val="1E293B"/>
                </a:solidFill>
              </a:rPr>
              <a:t>).</a:t>
            </a:r>
            <a:endParaRPr lang="en-US" sz="850" dirty="0"/>
          </a:p>
        </p:txBody>
      </p:sp>
      <p:sp>
        <p:nvSpPr>
          <p:cNvPr id="33" name="Text 31"/>
          <p:cNvSpPr/>
          <p:nvPr/>
        </p:nvSpPr>
        <p:spPr>
          <a:xfrm>
            <a:off x="4892040" y="2596896"/>
            <a:ext cx="3794760" cy="274320"/>
          </a:xfrm>
          <a:prstGeom prst="rect">
            <a:avLst/>
          </a:prstGeom>
          <a:noFill/>
          <a:ln/>
        </p:spPr>
        <p:txBody>
          <a:bodyPr wrap="square" rtlCol="0" anchor="t"/>
          <a:lstStyle/>
          <a:p>
            <a:pPr marL="0" indent="0" algn="l">
              <a:buNone/>
            </a:pPr>
            <a:r>
              <a:rPr lang="en-US" sz="750" i="1" dirty="0">
                <a:solidFill>
                  <a:srgbClr val="94A3B8"/>
                </a:solidFill>
              </a:rPr>
              <a:t>NIST AI RMF GOVERN 2 · Kok, Day 3 Sess 2 (Decision Rights table, Slide p.24)</a:t>
            </a:r>
            <a:endParaRPr lang="en-US" sz="750" dirty="0"/>
          </a:p>
        </p:txBody>
      </p:sp>
      <p:sp>
        <p:nvSpPr>
          <p:cNvPr id="34" name="Shape 32"/>
          <p:cNvSpPr/>
          <p:nvPr/>
        </p:nvSpPr>
        <p:spPr>
          <a:xfrm>
            <a:off x="4572000" y="2962656"/>
            <a:ext cx="4206240" cy="1280160"/>
          </a:xfrm>
          <a:prstGeom prst="rect">
            <a:avLst/>
          </a:prstGeom>
          <a:solidFill>
            <a:srgbClr val="EEF2FF"/>
          </a:solidFill>
          <a:ln w="9525">
            <a:solidFill>
              <a:srgbClr val="CBD5E1"/>
            </a:solidFill>
            <a:prstDash val="solid"/>
          </a:ln>
        </p:spPr>
        <p:txBody>
          <a:bodyPr/>
          <a:lstStyle/>
          <a:p>
            <a:endParaRPr lang="en-US"/>
          </a:p>
        </p:txBody>
      </p:sp>
      <p:sp>
        <p:nvSpPr>
          <p:cNvPr id="35" name="Shape 33"/>
          <p:cNvSpPr/>
          <p:nvPr/>
        </p:nvSpPr>
        <p:spPr>
          <a:xfrm>
            <a:off x="4572000" y="2962656"/>
            <a:ext cx="274320" cy="1280160"/>
          </a:xfrm>
          <a:prstGeom prst="rect">
            <a:avLst/>
          </a:prstGeom>
          <a:solidFill>
            <a:srgbClr val="3B82F6"/>
          </a:solidFill>
          <a:ln w="12700">
            <a:solidFill>
              <a:srgbClr val="3B82F6"/>
            </a:solidFill>
            <a:prstDash val="solid"/>
          </a:ln>
        </p:spPr>
        <p:txBody>
          <a:bodyPr/>
          <a:lstStyle/>
          <a:p>
            <a:endParaRPr lang="en-US"/>
          </a:p>
        </p:txBody>
      </p:sp>
      <p:sp>
        <p:nvSpPr>
          <p:cNvPr id="36" name="Text 34"/>
          <p:cNvSpPr/>
          <p:nvPr/>
        </p:nvSpPr>
        <p:spPr>
          <a:xfrm>
            <a:off x="4572000" y="2962656"/>
            <a:ext cx="274320" cy="128016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37" name="Text 35"/>
          <p:cNvSpPr/>
          <p:nvPr/>
        </p:nvSpPr>
        <p:spPr>
          <a:xfrm>
            <a:off x="4892040" y="2999232"/>
            <a:ext cx="3794760" cy="201168"/>
          </a:xfrm>
          <a:prstGeom prst="rect">
            <a:avLst/>
          </a:prstGeom>
          <a:noFill/>
          <a:ln/>
        </p:spPr>
        <p:txBody>
          <a:bodyPr wrap="square" rtlCol="0" anchor="t"/>
          <a:lstStyle/>
          <a:p>
            <a:pPr marL="0" indent="0" algn="l">
              <a:buNone/>
            </a:pPr>
            <a:r>
              <a:rPr lang="en-US" sz="1000" b="1" dirty="0">
                <a:solidFill>
                  <a:srgbClr val="1C2951"/>
                </a:solidFill>
              </a:rPr>
              <a:t>Escalation</a:t>
            </a:r>
            <a:endParaRPr lang="en-US" sz="1000" dirty="0"/>
          </a:p>
        </p:txBody>
      </p:sp>
      <p:sp>
        <p:nvSpPr>
          <p:cNvPr id="38" name="Text 36"/>
          <p:cNvSpPr/>
          <p:nvPr/>
        </p:nvSpPr>
        <p:spPr>
          <a:xfrm>
            <a:off x="4892040" y="3200400"/>
            <a:ext cx="3794760" cy="694944"/>
          </a:xfrm>
          <a:prstGeom prst="rect">
            <a:avLst/>
          </a:prstGeom>
          <a:noFill/>
          <a:ln/>
        </p:spPr>
        <p:txBody>
          <a:bodyPr wrap="square" rtlCol="0" anchor="t"/>
          <a:lstStyle/>
          <a:p>
            <a:pPr marL="0" indent="0" algn="l">
              <a:buNone/>
            </a:pPr>
            <a:r>
              <a:rPr lang="en-US" sz="850" dirty="0">
                <a:solidFill>
                  <a:srgbClr val="1E293B"/>
                </a:solidFill>
              </a:rPr>
              <a:t>Predefined Escalation Triggers for AI risk events. EU AI Act Art. 62 serious incident: 15-day reporting. DORA Art. 19 incident reporting. Named authority to halt or constrain a system at any lifecycle stage.</a:t>
            </a:r>
            <a:endParaRPr lang="en-US" sz="850" dirty="0"/>
          </a:p>
        </p:txBody>
      </p:sp>
      <p:sp>
        <p:nvSpPr>
          <p:cNvPr id="39" name="Text 37"/>
          <p:cNvSpPr/>
          <p:nvPr/>
        </p:nvSpPr>
        <p:spPr>
          <a:xfrm>
            <a:off x="4892040" y="3913632"/>
            <a:ext cx="3794760" cy="274320"/>
          </a:xfrm>
          <a:prstGeom prst="rect">
            <a:avLst/>
          </a:prstGeom>
          <a:noFill/>
          <a:ln/>
        </p:spPr>
        <p:txBody>
          <a:bodyPr wrap="square" rtlCol="0" anchor="t"/>
          <a:lstStyle/>
          <a:p>
            <a:pPr marL="0" indent="0" algn="l">
              <a:buNone/>
            </a:pPr>
            <a:r>
              <a:rPr lang="en-US" sz="750" i="1" dirty="0">
                <a:solidFill>
                  <a:srgbClr val="94A3B8"/>
                </a:solidFill>
              </a:rPr>
              <a:t>NIST CSF 2.0 Respond/Recover · DORA Art. 19 · EU AI Act Art. 62 · EAIRM §10.4</a:t>
            </a:r>
            <a:endParaRPr lang="en-US" sz="750" dirty="0"/>
          </a:p>
        </p:txBody>
      </p:sp>
      <p:sp>
        <p:nvSpPr>
          <p:cNvPr id="40" name="Shape 38"/>
          <p:cNvSpPr/>
          <p:nvPr/>
        </p:nvSpPr>
        <p:spPr>
          <a:xfrm>
            <a:off x="320040" y="4343400"/>
            <a:ext cx="8458200" cy="365760"/>
          </a:xfrm>
          <a:prstGeom prst="rect">
            <a:avLst/>
          </a:prstGeom>
          <a:solidFill>
            <a:srgbClr val="D6E4F7"/>
          </a:solidFill>
          <a:ln w="6350">
            <a:solidFill>
              <a:srgbClr val="CBD5E1"/>
            </a:solidFill>
            <a:prstDash val="solid"/>
          </a:ln>
        </p:spPr>
        <p:txBody>
          <a:bodyPr/>
          <a:lstStyle/>
          <a:p>
            <a:endParaRPr lang="en-US"/>
          </a:p>
        </p:txBody>
      </p:sp>
      <p:sp>
        <p:nvSpPr>
          <p:cNvPr id="41" name="Text 39"/>
          <p:cNvSpPr/>
          <p:nvPr/>
        </p:nvSpPr>
        <p:spPr>
          <a:xfrm>
            <a:off x="411480" y="4343400"/>
            <a:ext cx="8229600" cy="365760"/>
          </a:xfrm>
          <a:prstGeom prst="rect">
            <a:avLst/>
          </a:prstGeom>
          <a:noFill/>
          <a:ln/>
        </p:spPr>
        <p:txBody>
          <a:bodyPr wrap="square" rtlCol="0" anchor="ctr"/>
          <a:lstStyle/>
          <a:p>
            <a:pPr marL="0" indent="0" algn="ctr">
              <a:buNone/>
            </a:pPr>
            <a:r>
              <a:rPr lang="en-US" sz="800" dirty="0">
                <a:solidFill>
                  <a:srgbClr val="1C2951"/>
                </a:solidFill>
              </a:rPr>
              <a:t>Three Lines of Defence (Glossary §C): 1st Line — AI builders &amp; business owners (LumaPay teams)   |   2nd Line — AI Governance &amp; Risk/Compliance (Nordhaven Risk)   |   3rd Line — Internal Audit &amp; External Assurance</a:t>
            </a:r>
            <a:endParaRPr lang="en-US" sz="800" dirty="0"/>
          </a:p>
        </p:txBody>
      </p:sp>
      <p:sp>
        <p:nvSpPr>
          <p:cNvPr id="42" name="Text 40"/>
          <p:cNvSpPr/>
          <p:nvPr/>
        </p:nvSpPr>
        <p:spPr>
          <a:xfrm>
            <a:off x="457200" y="4846320"/>
            <a:ext cx="8229600" cy="256032"/>
          </a:xfrm>
          <a:prstGeom prst="rect">
            <a:avLst/>
          </a:prstGeom>
          <a:noFill/>
          <a:ln/>
        </p:spPr>
        <p:txBody>
          <a:bodyPr wrap="square" rtlCol="0" anchor="b"/>
          <a:lstStyle/>
          <a:p>
            <a:pPr marL="0" indent="0" algn="l">
              <a:buNone/>
            </a:pPr>
            <a:r>
              <a:rPr lang="en-US" sz="750" i="1" dirty="0">
                <a:solidFill>
                  <a:srgbClr val="94A3B8"/>
                </a:solidFill>
              </a:rPr>
              <a:t>Source: Kok, Day 3 Sess 2 (Slides pp.12–35; EAIRM §10.3–10.4; ⚠ SMCR: anticipated requirements (Kok, Day 3 Sess 2, Slide p.15). 'Group CRO' = proposed assignment.</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554480" cy="256032"/>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201168"/>
            <a:ext cx="1554480" cy="256032"/>
          </a:xfrm>
          <a:prstGeom prst="rect">
            <a:avLst/>
          </a:prstGeom>
          <a:noFill/>
          <a:ln/>
        </p:spPr>
        <p:txBody>
          <a:bodyPr wrap="square" lIns="0" tIns="0" rIns="0" bIns="0" rtlCol="0" anchor="ctr"/>
          <a:lstStyle/>
          <a:p>
            <a:pPr marL="0" indent="0" algn="ctr">
              <a:buNone/>
            </a:pPr>
            <a:r>
              <a:rPr lang="en-US" sz="750" b="1" dirty="0">
                <a:solidFill>
                  <a:srgbClr val="FFFFFF"/>
                </a:solidFill>
              </a:rPr>
              <a:t>G4  ·  RISK APPETITE</a:t>
            </a:r>
            <a:endParaRPr lang="en-US" sz="750" dirty="0"/>
          </a:p>
        </p:txBody>
      </p:sp>
      <p:sp>
        <p:nvSpPr>
          <p:cNvPr id="4" name="Text 2"/>
          <p:cNvSpPr/>
          <p:nvPr/>
        </p:nvSpPr>
        <p:spPr>
          <a:xfrm>
            <a:off x="457200" y="512064"/>
            <a:ext cx="8229600" cy="658368"/>
          </a:xfrm>
          <a:prstGeom prst="rect">
            <a:avLst/>
          </a:prstGeom>
          <a:noFill/>
          <a:ln/>
        </p:spPr>
        <p:txBody>
          <a:bodyPr wrap="square" rtlCol="0" anchor="ctr"/>
          <a:lstStyle/>
          <a:p>
            <a:pPr marL="0" indent="0" algn="l">
              <a:buNone/>
            </a:pPr>
            <a:r>
              <a:rPr lang="en-US" sz="2200" b="1" dirty="0">
                <a:solidFill>
                  <a:srgbClr val="1C2951"/>
                </a:solidFill>
                <a:latin typeface="Calibri" pitchFamily="34" charset="0"/>
                <a:ea typeface="Calibri" pitchFamily="34" charset="-122"/>
                <a:cs typeface="Calibri" pitchFamily="34" charset="-120"/>
              </a:rPr>
              <a:t>Risk Appetite &amp; Tolerance — Five Substrate Properties</a:t>
            </a:r>
            <a:endParaRPr lang="en-US" sz="2200" dirty="0"/>
          </a:p>
        </p:txBody>
      </p:sp>
      <p:sp>
        <p:nvSpPr>
          <p:cNvPr id="5" name="Shape 3"/>
          <p:cNvSpPr/>
          <p:nvPr/>
        </p:nvSpPr>
        <p:spPr>
          <a:xfrm>
            <a:off x="457200" y="1207008"/>
            <a:ext cx="8229600" cy="27432"/>
          </a:xfrm>
          <a:prstGeom prst="rect">
            <a:avLst/>
          </a:prstGeom>
          <a:solidFill>
            <a:srgbClr val="CBD5E1"/>
          </a:solidFill>
          <a:ln w="12700">
            <a:solidFill>
              <a:srgbClr val="CBD5E1"/>
            </a:solidFill>
            <a:prstDash val="solid"/>
          </a:ln>
        </p:spPr>
        <p:txBody>
          <a:bodyPr/>
          <a:lstStyle/>
          <a:p>
            <a:endParaRPr lang="en-US"/>
          </a:p>
        </p:txBody>
      </p:sp>
      <p:sp>
        <p:nvSpPr>
          <p:cNvPr id="6" name="Shape 4"/>
          <p:cNvSpPr/>
          <p:nvPr/>
        </p:nvSpPr>
        <p:spPr>
          <a:xfrm>
            <a:off x="5029200" y="1261872"/>
            <a:ext cx="914400" cy="237744"/>
          </a:xfrm>
          <a:prstGeom prst="rect">
            <a:avLst/>
          </a:prstGeom>
          <a:solidFill>
            <a:srgbClr val="16A34A"/>
          </a:solidFill>
          <a:ln w="12700">
            <a:solidFill>
              <a:srgbClr val="16A34A"/>
            </a:solidFill>
            <a:prstDash val="solid"/>
          </a:ln>
        </p:spPr>
        <p:txBody>
          <a:bodyPr/>
          <a:lstStyle/>
          <a:p>
            <a:endParaRPr lang="en-US"/>
          </a:p>
        </p:txBody>
      </p:sp>
      <p:sp>
        <p:nvSpPr>
          <p:cNvPr id="7" name="Text 5"/>
          <p:cNvSpPr/>
          <p:nvPr/>
        </p:nvSpPr>
        <p:spPr>
          <a:xfrm>
            <a:off x="5029200" y="1261872"/>
            <a:ext cx="914400" cy="237744"/>
          </a:xfrm>
          <a:prstGeom prst="rect">
            <a:avLst/>
          </a:prstGeom>
          <a:noFill/>
          <a:ln/>
        </p:spPr>
        <p:txBody>
          <a:bodyPr wrap="square" lIns="0" tIns="0" rIns="0" bIns="0" rtlCol="0" anchor="ctr"/>
          <a:lstStyle/>
          <a:p>
            <a:pPr marL="0" indent="0" algn="ctr">
              <a:buNone/>
            </a:pPr>
            <a:r>
              <a:rPr lang="en-US" sz="800" b="1" dirty="0">
                <a:solidFill>
                  <a:srgbClr val="FFFFFF"/>
                </a:solidFill>
              </a:rPr>
              <a:t>TARGET</a:t>
            </a:r>
            <a:endParaRPr lang="en-US" sz="800" dirty="0"/>
          </a:p>
        </p:txBody>
      </p:sp>
      <p:sp>
        <p:nvSpPr>
          <p:cNvPr id="8" name="Shape 6"/>
          <p:cNvSpPr/>
          <p:nvPr/>
        </p:nvSpPr>
        <p:spPr>
          <a:xfrm>
            <a:off x="6035040" y="1261872"/>
            <a:ext cx="914400" cy="237744"/>
          </a:xfrm>
          <a:prstGeom prst="rect">
            <a:avLst/>
          </a:prstGeom>
          <a:solidFill>
            <a:srgbClr val="D97706"/>
          </a:solidFill>
          <a:ln w="12700">
            <a:solidFill>
              <a:srgbClr val="D97706"/>
            </a:solidFill>
            <a:prstDash val="solid"/>
          </a:ln>
        </p:spPr>
        <p:txBody>
          <a:bodyPr/>
          <a:lstStyle/>
          <a:p>
            <a:endParaRPr lang="en-US"/>
          </a:p>
        </p:txBody>
      </p:sp>
      <p:sp>
        <p:nvSpPr>
          <p:cNvPr id="9" name="Text 7"/>
          <p:cNvSpPr/>
          <p:nvPr/>
        </p:nvSpPr>
        <p:spPr>
          <a:xfrm>
            <a:off x="6035040" y="1261872"/>
            <a:ext cx="914400" cy="237744"/>
          </a:xfrm>
          <a:prstGeom prst="rect">
            <a:avLst/>
          </a:prstGeom>
          <a:noFill/>
          <a:ln/>
        </p:spPr>
        <p:txBody>
          <a:bodyPr wrap="square" lIns="0" tIns="0" rIns="0" bIns="0" rtlCol="0" anchor="ctr"/>
          <a:lstStyle/>
          <a:p>
            <a:pPr marL="0" indent="0" algn="ctr">
              <a:buNone/>
            </a:pPr>
            <a:r>
              <a:rPr lang="en-US" sz="800" b="1" dirty="0">
                <a:solidFill>
                  <a:srgbClr val="FFFFFF"/>
                </a:solidFill>
              </a:rPr>
              <a:t>CAUTION</a:t>
            </a:r>
            <a:endParaRPr lang="en-US" sz="800" dirty="0"/>
          </a:p>
        </p:txBody>
      </p:sp>
      <p:sp>
        <p:nvSpPr>
          <p:cNvPr id="10" name="Shape 8"/>
          <p:cNvSpPr/>
          <p:nvPr/>
        </p:nvSpPr>
        <p:spPr>
          <a:xfrm>
            <a:off x="7178040" y="1261872"/>
            <a:ext cx="914400" cy="237744"/>
          </a:xfrm>
          <a:prstGeom prst="rect">
            <a:avLst/>
          </a:prstGeom>
          <a:solidFill>
            <a:srgbClr val="DC2626"/>
          </a:solidFill>
          <a:ln w="12700">
            <a:solidFill>
              <a:srgbClr val="DC2626"/>
            </a:solidFill>
            <a:prstDash val="solid"/>
          </a:ln>
        </p:spPr>
        <p:txBody>
          <a:bodyPr/>
          <a:lstStyle/>
          <a:p>
            <a:endParaRPr lang="en-US"/>
          </a:p>
        </p:txBody>
      </p:sp>
      <p:sp>
        <p:nvSpPr>
          <p:cNvPr id="11" name="Text 9"/>
          <p:cNvSpPr/>
          <p:nvPr/>
        </p:nvSpPr>
        <p:spPr>
          <a:xfrm>
            <a:off x="7178040" y="1261872"/>
            <a:ext cx="914400" cy="237744"/>
          </a:xfrm>
          <a:prstGeom prst="rect">
            <a:avLst/>
          </a:prstGeom>
          <a:noFill/>
          <a:ln/>
        </p:spPr>
        <p:txBody>
          <a:bodyPr wrap="square" lIns="0" tIns="0" rIns="0" bIns="0" rtlCol="0" anchor="ctr"/>
          <a:lstStyle/>
          <a:p>
            <a:pPr marL="0" indent="0" algn="ctr">
              <a:buNone/>
            </a:pPr>
            <a:r>
              <a:rPr lang="en-US" sz="800" b="1" dirty="0">
                <a:solidFill>
                  <a:srgbClr val="FFFFFF"/>
                </a:solidFill>
              </a:rPr>
              <a:t>LIMIT</a:t>
            </a:r>
            <a:endParaRPr lang="en-US" sz="800" dirty="0"/>
          </a:p>
        </p:txBody>
      </p:sp>
      <p:sp>
        <p:nvSpPr>
          <p:cNvPr id="12" name="Text 10"/>
          <p:cNvSpPr/>
          <p:nvPr/>
        </p:nvSpPr>
        <p:spPr>
          <a:xfrm>
            <a:off x="320040" y="1261872"/>
            <a:ext cx="4617720" cy="237744"/>
          </a:xfrm>
          <a:prstGeom prst="rect">
            <a:avLst/>
          </a:prstGeom>
          <a:noFill/>
          <a:ln/>
        </p:spPr>
        <p:txBody>
          <a:bodyPr wrap="square" rtlCol="0" anchor="ctr"/>
          <a:lstStyle/>
          <a:p>
            <a:pPr marL="0" indent="0" algn="l">
              <a:buNone/>
            </a:pPr>
            <a:r>
              <a:rPr lang="en-US" sz="750" i="1" dirty="0">
                <a:solidFill>
                  <a:srgbClr val="92400E"/>
                </a:solidFill>
              </a:rPr>
              <a:t>⚠ LIMIT/CAUTION/TARGET: BCG-originated (Kok, Day 3 Sess 2, Slide p.19) — not in EAIRM Glossary. Thresholds = group's proposed assumptions per Bıçakçı, Submission Guidance (Assumption).</a:t>
            </a:r>
            <a:endParaRPr lang="en-US" sz="750" dirty="0"/>
          </a:p>
        </p:txBody>
      </p:sp>
      <p:graphicFrame>
        <p:nvGraphicFramePr>
          <p:cNvPr id="13" name="Table 0"/>
          <p:cNvGraphicFramePr>
            <a:graphicFrameLocks noGrp="1"/>
          </p:cNvGraphicFramePr>
          <p:nvPr>
            <p:extLst>
              <p:ext uri="{D42A27DB-BD31-4B8C-83A1-F6EECF244321}">
                <p14:modId xmlns:p14="http://schemas.microsoft.com/office/powerpoint/2010/main" val="4100269680"/>
              </p:ext>
            </p:extLst>
          </p:nvPr>
        </p:nvGraphicFramePr>
        <p:xfrm>
          <a:off x="274320" y="1572768"/>
          <a:ext cx="8595360" cy="3715512"/>
        </p:xfrm>
        <a:graphic>
          <a:graphicData uri="http://schemas.openxmlformats.org/drawingml/2006/table">
            <a:tbl>
              <a:tblPr/>
              <a:tblGrid>
                <a:gridCol w="1280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7452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576072">
                <a:tc>
                  <a:txBody>
                    <a:bodyPr/>
                    <a:lstStyle/>
                    <a:p>
                      <a:pPr marL="0" indent="0">
                        <a:buNone/>
                      </a:pPr>
                      <a:r>
                        <a:rPr lang="en-US" sz="850" b="1" dirty="0">
                          <a:solidFill>
                            <a:srgbClr val="FFFFFF"/>
                          </a:solidFill>
                        </a:rPr>
                        <a:t>Substrate Property</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50" b="1" dirty="0">
                          <a:solidFill>
                            <a:srgbClr val="FFFFFF"/>
                          </a:solidFill>
                        </a:rPr>
                        <a:t>Most Exposed System(s)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50" b="1" dirty="0">
                          <a:solidFill>
                            <a:srgbClr val="FFFFFF"/>
                          </a:solidFill>
                        </a:rPr>
                        <a:t>Appetite Statement</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50" b="1" dirty="0">
                          <a:solidFill>
                            <a:srgbClr val="FFFFFF"/>
                          </a:solidFill>
                        </a:rPr>
                        <a:t>Band</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50" b="1" dirty="0">
                          <a:solidFill>
                            <a:srgbClr val="FFFFFF"/>
                          </a:solidFill>
                        </a:rPr>
                        <a:t>KRI Reference (Yemi, Day 4 Sess 2, Slides p.47)</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50" b="1" dirty="0">
                          <a:solidFill>
                            <a:srgbClr val="FFFFFF"/>
                          </a:solidFill>
                        </a:rPr>
                        <a:t>Standards Anchor</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extLst>
                  <a:ext uri="{0D108BD9-81ED-4DB2-BD59-A6C34878D82A}">
                    <a16:rowId xmlns:a16="http://schemas.microsoft.com/office/drawing/2014/main" val="10000"/>
                  </a:ext>
                </a:extLst>
              </a:tr>
              <a:tr h="576072">
                <a:tc>
                  <a:txBody>
                    <a:bodyPr/>
                    <a:lstStyle/>
                    <a:p>
                      <a:pPr marL="0" indent="0">
                        <a:buNone/>
                      </a:pPr>
                      <a:r>
                        <a:rPr lang="en-US" sz="800" dirty="0">
                          <a:solidFill>
                            <a:srgbClr val="000000"/>
                          </a:solidFill>
                        </a:rPr>
                        <a:t>Opacity</a:t>
                      </a:r>
                      <a:endParaRPr lang="en-US" sz="800" dirty="0"/>
                    </a:p>
                    <a:p>
                      <a:pPr marL="0" indent="0">
                        <a:buNone/>
                      </a:pPr>
                      <a:r>
                        <a:rPr lang="en-US" sz="800" dirty="0">
                          <a:solidFill>
                            <a:srgbClr val="000000"/>
                          </a:solidFill>
                        </a:rPr>
                        <a:t>(unintelligible decisions)</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LumaCredit-EU</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Zero tolerance for unexplainable automated credit decisions. All decisions must carry GDPR Art. 22 / EU AI Act Art. 13–14 explanation record. Explainability testing required at deployment and post-drift remediation.</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DC2626"/>
                          </a:solidFill>
                        </a:rPr>
                        <a:t>LIMIT</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AI Governance vector (AI-31–AI-40): % of high-risk AI use cases without explainability documentation &gt; 0% → escalate (Yemi, Day 4 Sess 2, Slides p.47)</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EU AI Act Art. 13–14; GDPR Art. 22; NIST AI RMF GOVERN</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072">
                <a:tc>
                  <a:txBody>
                    <a:bodyPr/>
                    <a:lstStyle/>
                    <a:p>
                      <a:pPr marL="0" indent="0">
                        <a:buNone/>
                      </a:pPr>
                      <a:r>
                        <a:rPr lang="en-US" sz="800" dirty="0">
                          <a:solidFill>
                            <a:srgbClr val="000000"/>
                          </a:solidFill>
                        </a:rPr>
                        <a:t>Autonomy</a:t>
                      </a:r>
                      <a:endParaRPr lang="en-US" sz="800" dirty="0"/>
                    </a:p>
                    <a:p>
                      <a:pPr marL="0" indent="0">
                        <a:buNone/>
                      </a:pPr>
                      <a:r>
                        <a:rPr lang="en-US" sz="800" dirty="0">
                          <a:solidFill>
                            <a:srgbClr val="000000"/>
                          </a:solidFill>
                        </a:rPr>
                        <a:t>(unsupervised decisions)</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AutoUnderwriter Agent</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HITL mandatory for all regulated decisions. Autonomous execution restricted to pre-approved parameters with a documented human review gate.</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DC2626"/>
                          </a:solidFill>
                        </a:rPr>
                        <a:t>LIMIT</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KRI AI-06: % of high-risk AI use cases without HITL controls &gt; 0% → halt (Yemi, Day 4 Sess 2, Slides p.47)</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EU AI Act Art. 14; Manikam, Day 4 </a:t>
                      </a:r>
                      <a:r>
                        <a:rPr lang="en-US" sz="750" i="1" dirty="0" err="1">
                          <a:solidFill>
                            <a:srgbClr val="000000"/>
                          </a:solidFill>
                        </a:rPr>
                        <a:t>Sess</a:t>
                      </a:r>
                      <a:r>
                        <a:rPr lang="en-US" sz="750" i="1" dirty="0">
                          <a:solidFill>
                            <a:srgbClr val="000000"/>
                          </a:solidFill>
                        </a:rPr>
                        <a:t> 1</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6072">
                <a:tc>
                  <a:txBody>
                    <a:bodyPr/>
                    <a:lstStyle/>
                    <a:p>
                      <a:pPr marL="0" indent="0">
                        <a:buNone/>
                      </a:pPr>
                      <a:r>
                        <a:rPr lang="en-US" sz="800" dirty="0">
                          <a:solidFill>
                            <a:srgbClr val="000000"/>
                          </a:solidFill>
                        </a:rPr>
                        <a:t>Dependency</a:t>
                      </a:r>
                      <a:endParaRPr lang="en-US" sz="800" dirty="0"/>
                    </a:p>
                    <a:p>
                      <a:pPr marL="0" indent="0">
                        <a:buNone/>
                      </a:pPr>
                      <a:r>
                        <a:rPr lang="en-US" sz="800" dirty="0">
                          <a:solidFill>
                            <a:srgbClr val="000000"/>
                          </a:solidFill>
                        </a:rPr>
                        <a:t>(uncontrolled components)</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FraudShield (3rd party)</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Single vendor concentration for critical fraud detection must not exceed agreed threshold. Contractual SLA and fallback required. Change-of-control clauses audited pre-close.</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D97706"/>
                          </a:solidFill>
                        </a:rPr>
                        <a:t>CAUTION</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KRI: vendor concentration ratio; SLA breach frequency; contract audit completion (Yemi, Day 4 Sess 2, KRI framework)</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DORA Art. 28–30; ISO/IEC 27036; Taxonomy A9</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6072">
                <a:tc>
                  <a:txBody>
                    <a:bodyPr/>
                    <a:lstStyle/>
                    <a:p>
                      <a:pPr marL="0" indent="0">
                        <a:buNone/>
                      </a:pPr>
                      <a:r>
                        <a:rPr lang="en-US" sz="800" dirty="0">
                          <a:solidFill>
                            <a:srgbClr val="000000"/>
                          </a:solidFill>
                        </a:rPr>
                        <a:t>Drift</a:t>
                      </a:r>
                      <a:endParaRPr lang="en-US" sz="800" dirty="0"/>
                    </a:p>
                    <a:p>
                      <a:pPr marL="0" indent="0">
                        <a:buNone/>
                      </a:pPr>
                      <a:r>
                        <a:rPr lang="en-US" sz="800" dirty="0">
                          <a:solidFill>
                            <a:srgbClr val="000000"/>
                          </a:solidFill>
                        </a:rPr>
                        <a:t>(behaviour change over time)</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LumaCredit-EU; AutoUnderwriter</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Prediction drift &gt;5% vs baseline → mandatory re-validation. Data drift &gt;10% → alert. GenAI model version changes → regression test before deploy. (Thresholds: proposed; see A6.)</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D97706"/>
                          </a:solidFill>
                        </a:rPr>
                        <a:t>CAUTION</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KRI AI-01: % of AI models without documented risk assessment &gt; 0% → escalate; also: % without ongoing monitoring in production (Yemi, Day 4 Sess 2, AI Model vector AI-01–AI-10, Slides p.47)</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NIST AI RMF MEASURE-2.6; ISO/IEC 23894; EU AI Act Art. 9</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6072">
                <a:tc>
                  <a:txBody>
                    <a:bodyPr/>
                    <a:lstStyle/>
                    <a:p>
                      <a:pPr marL="0" indent="0">
                        <a:buNone/>
                      </a:pPr>
                      <a:r>
                        <a:rPr lang="en-US" sz="800" dirty="0">
                          <a:solidFill>
                            <a:srgbClr val="000000"/>
                          </a:solidFill>
                        </a:rPr>
                        <a:t>Scale Asymmetry</a:t>
                      </a:r>
                      <a:endParaRPr lang="en-US" sz="800" dirty="0"/>
                    </a:p>
                    <a:p>
                      <a:pPr marL="0" indent="0">
                        <a:buNone/>
                      </a:pPr>
                      <a:r>
                        <a:rPr lang="en-US" sz="800" dirty="0">
                          <a:solidFill>
                            <a:srgbClr val="000000"/>
                          </a:solidFill>
                        </a:rPr>
                        <a:t>(errors at machine speed)</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All four systems post-merger</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During 12–18 month integration period, additional stage-gate controls apply. No simultaneous EU/UK deployment without dual-entity sign-off.</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00" b="1" dirty="0">
                          <a:solidFill>
                            <a:srgbClr val="16A34A"/>
                          </a:solidFill>
                        </a:rPr>
                        <a:t>TARGET</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KRI: # simultaneous deployments without dual-entity sign-off (Yemi, Day 4 Sess 2, KRI framework)</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EAIRM §5.1; Bıçakçı, Day 5 Sess 3.1</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4" name="Text 11"/>
          <p:cNvSpPr/>
          <p:nvPr/>
        </p:nvSpPr>
        <p:spPr>
          <a:xfrm>
            <a:off x="457200" y="5361432"/>
            <a:ext cx="8229600" cy="256032"/>
          </a:xfrm>
          <a:prstGeom prst="rect">
            <a:avLst/>
          </a:prstGeom>
          <a:noFill/>
          <a:ln/>
        </p:spPr>
        <p:txBody>
          <a:bodyPr wrap="square" rtlCol="0" anchor="b"/>
          <a:lstStyle/>
          <a:p>
            <a:pPr marL="0" indent="0" algn="l">
              <a:buNone/>
            </a:pPr>
            <a:r>
              <a:rPr lang="en-US" sz="750" i="1" dirty="0">
                <a:solidFill>
                  <a:srgbClr val="94A3B8"/>
                </a:solidFill>
              </a:rPr>
              <a:t>⚠ A6: Thresholds (5%, 10%) are proposed assumptions. All KRI references: Yemi, Day 4 Sess 2, Slides p.47. AI-06 = '% high-risk AI use cases without HITL'. AI-01 = '% models without documented risk assessment'.</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554480" cy="256032"/>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201168"/>
            <a:ext cx="1554480" cy="256032"/>
          </a:xfrm>
          <a:prstGeom prst="rect">
            <a:avLst/>
          </a:prstGeom>
          <a:noFill/>
          <a:ln/>
        </p:spPr>
        <p:txBody>
          <a:bodyPr wrap="square" lIns="0" tIns="0" rIns="0" bIns="0" rtlCol="0" anchor="ctr"/>
          <a:lstStyle/>
          <a:p>
            <a:pPr marL="0" indent="0" algn="ctr">
              <a:buNone/>
            </a:pPr>
            <a:r>
              <a:rPr lang="en-US" sz="750" b="1" dirty="0">
                <a:solidFill>
                  <a:srgbClr val="FFFFFF"/>
                </a:solidFill>
              </a:rPr>
              <a:t>G5  ·  M&amp;A-SPECIFIC RISKS</a:t>
            </a:r>
            <a:endParaRPr lang="en-US" sz="750" dirty="0"/>
          </a:p>
        </p:txBody>
      </p:sp>
      <p:sp>
        <p:nvSpPr>
          <p:cNvPr id="4" name="Text 2"/>
          <p:cNvSpPr/>
          <p:nvPr/>
        </p:nvSpPr>
        <p:spPr>
          <a:xfrm>
            <a:off x="457200" y="512064"/>
            <a:ext cx="8229600" cy="658368"/>
          </a:xfrm>
          <a:prstGeom prst="rect">
            <a:avLst/>
          </a:prstGeom>
          <a:noFill/>
          <a:ln/>
        </p:spPr>
        <p:txBody>
          <a:bodyPr wrap="square" rtlCol="0" anchor="ctr"/>
          <a:lstStyle/>
          <a:p>
            <a:pPr marL="0" indent="0" algn="l">
              <a:buNone/>
            </a:pPr>
            <a:r>
              <a:rPr lang="en-US" sz="2400" b="1" dirty="0">
                <a:solidFill>
                  <a:srgbClr val="1C2951"/>
                </a:solidFill>
                <a:latin typeface="Calibri" pitchFamily="34" charset="0"/>
                <a:ea typeface="Calibri" pitchFamily="34" charset="-122"/>
                <a:cs typeface="Calibri" pitchFamily="34" charset="-120"/>
              </a:rPr>
              <a:t>Three Governance Risks Unique to the M&amp;A Context</a:t>
            </a:r>
            <a:endParaRPr lang="en-US" sz="2400" dirty="0"/>
          </a:p>
        </p:txBody>
      </p:sp>
      <p:sp>
        <p:nvSpPr>
          <p:cNvPr id="5" name="Shape 3"/>
          <p:cNvSpPr/>
          <p:nvPr/>
        </p:nvSpPr>
        <p:spPr>
          <a:xfrm>
            <a:off x="457200" y="1207008"/>
            <a:ext cx="8229600" cy="27432"/>
          </a:xfrm>
          <a:prstGeom prst="rect">
            <a:avLst/>
          </a:prstGeom>
          <a:solidFill>
            <a:srgbClr val="CBD5E1"/>
          </a:solidFill>
          <a:ln w="12700">
            <a:solidFill>
              <a:srgbClr val="CBD5E1"/>
            </a:solidFill>
            <a:prstDash val="solid"/>
          </a:ln>
        </p:spPr>
        <p:txBody>
          <a:bodyPr/>
          <a:lstStyle/>
          <a:p>
            <a:endParaRPr lang="en-US"/>
          </a:p>
        </p:txBody>
      </p:sp>
      <p:sp>
        <p:nvSpPr>
          <p:cNvPr id="6" name="Text 4"/>
          <p:cNvSpPr/>
          <p:nvPr/>
        </p:nvSpPr>
        <p:spPr>
          <a:xfrm>
            <a:off x="320040" y="1243584"/>
            <a:ext cx="8503920" cy="256032"/>
          </a:xfrm>
          <a:prstGeom prst="rect">
            <a:avLst/>
          </a:prstGeom>
          <a:noFill/>
          <a:ln/>
        </p:spPr>
        <p:txBody>
          <a:bodyPr wrap="square" rtlCol="0" anchor="ctr"/>
          <a:lstStyle/>
          <a:p>
            <a:pPr marL="0" indent="0" algn="l">
              <a:buNone/>
            </a:pPr>
            <a:r>
              <a:rPr lang="en-US" sz="900" i="1" dirty="0">
                <a:solidFill>
                  <a:srgbClr val="475569"/>
                </a:solidFill>
              </a:rPr>
              <a:t>Beyond standard AI risk definitions — systematically under-weighted in traditional due diligence  (Bıçakçı, Day 5 </a:t>
            </a:r>
            <a:r>
              <a:rPr lang="en-US" sz="900" i="1" dirty="0" err="1">
                <a:solidFill>
                  <a:srgbClr val="475569"/>
                </a:solidFill>
              </a:rPr>
              <a:t>Sess</a:t>
            </a:r>
            <a:r>
              <a:rPr lang="en-US" sz="900" i="1" dirty="0">
                <a:solidFill>
                  <a:srgbClr val="475569"/>
                </a:solidFill>
              </a:rPr>
              <a:t> 3)</a:t>
            </a:r>
            <a:endParaRPr lang="en-US" sz="900" dirty="0"/>
          </a:p>
        </p:txBody>
      </p:sp>
      <p:sp>
        <p:nvSpPr>
          <p:cNvPr id="7" name="Shape 5"/>
          <p:cNvSpPr/>
          <p:nvPr/>
        </p:nvSpPr>
        <p:spPr>
          <a:xfrm>
            <a:off x="320040" y="1572768"/>
            <a:ext cx="2542032" cy="2999232"/>
          </a:xfrm>
          <a:prstGeom prst="rect">
            <a:avLst/>
          </a:prstGeom>
          <a:solidFill>
            <a:srgbClr val="F4F7FC"/>
          </a:solidFill>
          <a:ln w="9525">
            <a:solidFill>
              <a:srgbClr val="CBD5E1"/>
            </a:solidFill>
            <a:prstDash val="solid"/>
          </a:ln>
          <a:effectLst>
            <a:outerShdw blurRad="63500" dist="25400" dir="8100000" algn="bl" rotWithShape="0">
              <a:srgbClr val="000000">
                <a:alpha val="7000"/>
              </a:srgbClr>
            </a:outerShdw>
          </a:effectLst>
        </p:spPr>
        <p:txBody>
          <a:bodyPr/>
          <a:lstStyle/>
          <a:p>
            <a:endParaRPr lang="en-US" dirty="0"/>
          </a:p>
        </p:txBody>
      </p:sp>
      <p:sp>
        <p:nvSpPr>
          <p:cNvPr id="8" name="Shape 6"/>
          <p:cNvSpPr/>
          <p:nvPr/>
        </p:nvSpPr>
        <p:spPr>
          <a:xfrm>
            <a:off x="320040" y="1572768"/>
            <a:ext cx="2542032" cy="329184"/>
          </a:xfrm>
          <a:prstGeom prst="rect">
            <a:avLst/>
          </a:prstGeom>
          <a:solidFill>
            <a:srgbClr val="DC2626"/>
          </a:solidFill>
          <a:ln w="12700">
            <a:solidFill>
              <a:srgbClr val="DC2626"/>
            </a:solidFill>
            <a:prstDash val="solid"/>
          </a:ln>
        </p:spPr>
        <p:txBody>
          <a:bodyPr/>
          <a:lstStyle/>
          <a:p>
            <a:endParaRPr lang="en-US"/>
          </a:p>
        </p:txBody>
      </p:sp>
      <p:sp>
        <p:nvSpPr>
          <p:cNvPr id="9" name="Text 7"/>
          <p:cNvSpPr/>
          <p:nvPr/>
        </p:nvSpPr>
        <p:spPr>
          <a:xfrm>
            <a:off x="411480" y="1572768"/>
            <a:ext cx="2359152" cy="329184"/>
          </a:xfrm>
          <a:prstGeom prst="rect">
            <a:avLst/>
          </a:prstGeom>
          <a:noFill/>
          <a:ln/>
        </p:spPr>
        <p:txBody>
          <a:bodyPr wrap="square" rtlCol="0" anchor="ctr"/>
          <a:lstStyle/>
          <a:p>
            <a:r>
              <a:rPr lang="en-US" sz="900" b="1" dirty="0">
                <a:solidFill>
                  <a:srgbClr val="FFFFFF"/>
                </a:solidFill>
              </a:rPr>
              <a:t>G5a  · Shadow AI &amp; Undocumented Tools</a:t>
            </a:r>
            <a:endParaRPr lang="en-US" sz="900" dirty="0"/>
          </a:p>
        </p:txBody>
      </p:sp>
      <p:sp>
        <p:nvSpPr>
          <p:cNvPr id="10" name="Text 8"/>
          <p:cNvSpPr/>
          <p:nvPr/>
        </p:nvSpPr>
        <p:spPr>
          <a:xfrm>
            <a:off x="429768" y="1956816"/>
            <a:ext cx="563460" cy="164592"/>
          </a:xfrm>
          <a:prstGeom prst="rect">
            <a:avLst/>
          </a:prstGeom>
          <a:noFill/>
          <a:ln/>
        </p:spPr>
        <p:txBody>
          <a:bodyPr wrap="square" rtlCol="0" anchor="ctr"/>
          <a:lstStyle/>
          <a:p>
            <a:pPr marL="0" indent="0" algn="l">
              <a:buNone/>
            </a:pPr>
            <a:r>
              <a:rPr lang="en-US" sz="700" b="1" dirty="0">
                <a:solidFill>
                  <a:srgbClr val="DC2626"/>
                </a:solidFill>
              </a:rPr>
              <a:t>WHAT</a:t>
            </a:r>
            <a:endParaRPr lang="en-US" sz="700" dirty="0"/>
          </a:p>
        </p:txBody>
      </p:sp>
      <p:sp>
        <p:nvSpPr>
          <p:cNvPr id="11" name="Text 9"/>
          <p:cNvSpPr/>
          <p:nvPr/>
        </p:nvSpPr>
        <p:spPr>
          <a:xfrm>
            <a:off x="429768" y="2112264"/>
            <a:ext cx="2322576" cy="658368"/>
          </a:xfrm>
          <a:prstGeom prst="rect">
            <a:avLst/>
          </a:prstGeom>
          <a:noFill/>
          <a:ln/>
        </p:spPr>
        <p:txBody>
          <a:bodyPr wrap="square" rtlCol="0" anchor="t"/>
          <a:lstStyle/>
          <a:p>
            <a:pPr marL="0" indent="0" algn="l">
              <a:buNone/>
            </a:pPr>
            <a:r>
              <a:rPr lang="en-US" sz="850" dirty="0">
                <a:solidFill>
                  <a:srgbClr val="1E293B"/>
                </a:solidFill>
              </a:rPr>
              <a:t>Everything LumaPay has built outside formal governance — invisible to auditors, still affecting customers, still fully on Nordhaven's regulatory tab after close.</a:t>
            </a:r>
            <a:endParaRPr lang="en-US" sz="850" dirty="0"/>
          </a:p>
        </p:txBody>
      </p:sp>
      <p:sp>
        <p:nvSpPr>
          <p:cNvPr id="12" name="Text 10"/>
          <p:cNvSpPr/>
          <p:nvPr/>
        </p:nvSpPr>
        <p:spPr>
          <a:xfrm>
            <a:off x="429768" y="2798064"/>
            <a:ext cx="502920" cy="155448"/>
          </a:xfrm>
          <a:prstGeom prst="rect">
            <a:avLst/>
          </a:prstGeom>
          <a:noFill/>
          <a:ln/>
        </p:spPr>
        <p:txBody>
          <a:bodyPr wrap="square" rtlCol="0" anchor="ctr"/>
          <a:lstStyle/>
          <a:p>
            <a:pPr marL="0" indent="0" algn="l">
              <a:buNone/>
            </a:pPr>
            <a:r>
              <a:rPr lang="en-US" sz="700" b="1" dirty="0">
                <a:solidFill>
                  <a:srgbClr val="DC2626"/>
                </a:solidFill>
              </a:rPr>
              <a:t>IMPACT</a:t>
            </a:r>
            <a:endParaRPr lang="en-US" sz="700" dirty="0"/>
          </a:p>
        </p:txBody>
      </p:sp>
      <p:sp>
        <p:nvSpPr>
          <p:cNvPr id="13" name="Text 11"/>
          <p:cNvSpPr/>
          <p:nvPr/>
        </p:nvSpPr>
        <p:spPr>
          <a:xfrm>
            <a:off x="429768" y="2953512"/>
            <a:ext cx="2322576" cy="548640"/>
          </a:xfrm>
          <a:prstGeom prst="rect">
            <a:avLst/>
          </a:prstGeom>
          <a:noFill/>
          <a:ln/>
        </p:spPr>
        <p:txBody>
          <a:bodyPr wrap="square" rtlCol="0" anchor="t"/>
          <a:lstStyle/>
          <a:p>
            <a:pPr marL="0" indent="0" algn="l">
              <a:buNone/>
            </a:pPr>
            <a:r>
              <a:rPr lang="en-US" sz="850" dirty="0">
                <a:solidFill>
                  <a:srgbClr val="1E293B"/>
                </a:solidFill>
              </a:rPr>
              <a:t>Full regulatory liability under EU AI Act and UK consumer protection transfers to Nordhaven on Day 1. No transition services agreement in place.</a:t>
            </a:r>
            <a:endParaRPr lang="en-US" sz="850" dirty="0"/>
          </a:p>
        </p:txBody>
      </p:sp>
      <p:sp>
        <p:nvSpPr>
          <p:cNvPr id="14" name="Text 12"/>
          <p:cNvSpPr/>
          <p:nvPr/>
        </p:nvSpPr>
        <p:spPr>
          <a:xfrm>
            <a:off x="429768" y="3538728"/>
            <a:ext cx="1645920" cy="155448"/>
          </a:xfrm>
          <a:prstGeom prst="rect">
            <a:avLst/>
          </a:prstGeom>
          <a:noFill/>
          <a:ln/>
        </p:spPr>
        <p:txBody>
          <a:bodyPr wrap="square" rtlCol="0" anchor="ctr"/>
          <a:lstStyle/>
          <a:p>
            <a:pPr marL="0" indent="0" algn="l">
              <a:buNone/>
            </a:pPr>
            <a:r>
              <a:rPr lang="en-US" sz="700" b="1" dirty="0">
                <a:solidFill>
                  <a:srgbClr val="DC2626"/>
                </a:solidFill>
              </a:rPr>
              <a:t>GOVERNANCE RESPONSE</a:t>
            </a:r>
            <a:endParaRPr lang="en-US" sz="700" dirty="0"/>
          </a:p>
        </p:txBody>
      </p:sp>
      <p:sp>
        <p:nvSpPr>
          <p:cNvPr id="15" name="Text 13"/>
          <p:cNvSpPr/>
          <p:nvPr/>
        </p:nvSpPr>
        <p:spPr>
          <a:xfrm>
            <a:off x="429768" y="3694176"/>
            <a:ext cx="2322576" cy="475488"/>
          </a:xfrm>
          <a:prstGeom prst="rect">
            <a:avLst/>
          </a:prstGeom>
          <a:noFill/>
          <a:ln/>
        </p:spPr>
        <p:txBody>
          <a:bodyPr wrap="square" rtlCol="0" anchor="t"/>
          <a:lstStyle/>
          <a:p>
            <a:pPr marL="0" indent="0" algn="l">
              <a:buNone/>
            </a:pPr>
            <a:r>
              <a:rPr lang="en-US" sz="850" dirty="0">
                <a:solidFill>
                  <a:srgbClr val="1E293B"/>
                </a:solidFill>
              </a:rPr>
              <a:t>Shadow AI discovery as a Day 1 action (NIST AI RMF MAP). Audit-trail gaps = Governance Risk (EAIRM §5.1).</a:t>
            </a:r>
            <a:endParaRPr lang="en-US" sz="850" dirty="0"/>
          </a:p>
        </p:txBody>
      </p:sp>
      <p:sp>
        <p:nvSpPr>
          <p:cNvPr id="16" name="Shape 14"/>
          <p:cNvSpPr/>
          <p:nvPr/>
        </p:nvSpPr>
        <p:spPr>
          <a:xfrm>
            <a:off x="320040" y="4315968"/>
            <a:ext cx="2542032" cy="256032"/>
          </a:xfrm>
          <a:prstGeom prst="rect">
            <a:avLst/>
          </a:prstGeom>
          <a:solidFill>
            <a:srgbClr val="D6E4F7"/>
          </a:solidFill>
          <a:ln w="6350">
            <a:solidFill>
              <a:srgbClr val="CBD5E1"/>
            </a:solidFill>
            <a:prstDash val="solid"/>
          </a:ln>
        </p:spPr>
        <p:txBody>
          <a:bodyPr/>
          <a:lstStyle/>
          <a:p>
            <a:endParaRPr lang="en-US"/>
          </a:p>
        </p:txBody>
      </p:sp>
      <p:sp>
        <p:nvSpPr>
          <p:cNvPr id="17" name="Text 15"/>
          <p:cNvSpPr/>
          <p:nvPr/>
        </p:nvSpPr>
        <p:spPr>
          <a:xfrm>
            <a:off x="411480" y="4315968"/>
            <a:ext cx="2359152" cy="256032"/>
          </a:xfrm>
          <a:prstGeom prst="rect">
            <a:avLst/>
          </a:prstGeom>
          <a:noFill/>
          <a:ln/>
        </p:spPr>
        <p:txBody>
          <a:bodyPr wrap="square" rtlCol="0" anchor="ctr"/>
          <a:lstStyle/>
          <a:p>
            <a:pPr marL="0" indent="0" algn="l">
              <a:buNone/>
            </a:pPr>
            <a:r>
              <a:rPr lang="en-US" sz="700" i="1" dirty="0" err="1">
                <a:solidFill>
                  <a:srgbClr val="475569"/>
                </a:solidFill>
              </a:rPr>
              <a:t>Bıçakçı</a:t>
            </a:r>
            <a:r>
              <a:rPr lang="en-US" sz="700" i="1" dirty="0">
                <a:solidFill>
                  <a:srgbClr val="475569"/>
                </a:solidFill>
              </a:rPr>
              <a:t>; Manikam, Day 4 </a:t>
            </a:r>
            <a:r>
              <a:rPr lang="en-US" sz="700" i="1" dirty="0" err="1">
                <a:solidFill>
                  <a:srgbClr val="475569"/>
                </a:solidFill>
              </a:rPr>
              <a:t>Sess</a:t>
            </a:r>
            <a:r>
              <a:rPr lang="en-US" sz="700" i="1" dirty="0">
                <a:solidFill>
                  <a:srgbClr val="475569"/>
                </a:solidFill>
              </a:rPr>
              <a:t> 1; Submission Guidance</a:t>
            </a:r>
            <a:endParaRPr lang="en-US" sz="700" dirty="0"/>
          </a:p>
        </p:txBody>
      </p:sp>
      <p:sp>
        <p:nvSpPr>
          <p:cNvPr id="18" name="Shape 16"/>
          <p:cNvSpPr/>
          <p:nvPr/>
        </p:nvSpPr>
        <p:spPr>
          <a:xfrm>
            <a:off x="3108960" y="1572768"/>
            <a:ext cx="2542032" cy="2999232"/>
          </a:xfrm>
          <a:prstGeom prst="rect">
            <a:avLst/>
          </a:prstGeom>
          <a:solidFill>
            <a:srgbClr val="F4F7FC"/>
          </a:solidFill>
          <a:ln w="9525">
            <a:solidFill>
              <a:srgbClr val="CBD5E1"/>
            </a:solidFill>
            <a:prstDash val="solid"/>
          </a:ln>
          <a:effectLst>
            <a:outerShdw blurRad="63500" dist="25400" dir="8100000" algn="bl" rotWithShape="0">
              <a:srgbClr val="000000">
                <a:alpha val="7000"/>
              </a:srgbClr>
            </a:outerShdw>
          </a:effectLst>
        </p:spPr>
        <p:txBody>
          <a:bodyPr/>
          <a:lstStyle/>
          <a:p>
            <a:endParaRPr lang="en-US"/>
          </a:p>
        </p:txBody>
      </p:sp>
      <p:sp>
        <p:nvSpPr>
          <p:cNvPr id="19" name="Shape 17"/>
          <p:cNvSpPr/>
          <p:nvPr/>
        </p:nvSpPr>
        <p:spPr>
          <a:xfrm>
            <a:off x="3108960" y="1572768"/>
            <a:ext cx="2542032" cy="329184"/>
          </a:xfrm>
          <a:prstGeom prst="rect">
            <a:avLst/>
          </a:prstGeom>
          <a:solidFill>
            <a:srgbClr val="D97706"/>
          </a:solidFill>
          <a:ln w="12700">
            <a:solidFill>
              <a:srgbClr val="D97706"/>
            </a:solidFill>
            <a:prstDash val="solid"/>
          </a:ln>
        </p:spPr>
        <p:txBody>
          <a:bodyPr/>
          <a:lstStyle/>
          <a:p>
            <a:endParaRPr lang="en-US"/>
          </a:p>
        </p:txBody>
      </p:sp>
      <p:sp>
        <p:nvSpPr>
          <p:cNvPr id="20" name="Text 18"/>
          <p:cNvSpPr/>
          <p:nvPr/>
        </p:nvSpPr>
        <p:spPr>
          <a:xfrm>
            <a:off x="3200400" y="1572768"/>
            <a:ext cx="2359152" cy="329184"/>
          </a:xfrm>
          <a:prstGeom prst="rect">
            <a:avLst/>
          </a:prstGeom>
          <a:noFill/>
          <a:ln/>
        </p:spPr>
        <p:txBody>
          <a:bodyPr wrap="square" rtlCol="0" anchor="ctr"/>
          <a:lstStyle/>
          <a:p>
            <a:r>
              <a:rPr lang="en-US" sz="900" b="1" dirty="0">
                <a:solidFill>
                  <a:srgbClr val="FFFFFF"/>
                </a:solidFill>
              </a:rPr>
              <a:t>G5b  · Change-of-Control &amp; Non-Assignable Licences</a:t>
            </a:r>
            <a:endParaRPr lang="en-US" sz="900" dirty="0"/>
          </a:p>
        </p:txBody>
      </p:sp>
      <p:sp>
        <p:nvSpPr>
          <p:cNvPr id="21" name="Text 19"/>
          <p:cNvSpPr/>
          <p:nvPr/>
        </p:nvSpPr>
        <p:spPr>
          <a:xfrm>
            <a:off x="3218688" y="1956816"/>
            <a:ext cx="502920" cy="164592"/>
          </a:xfrm>
          <a:prstGeom prst="rect">
            <a:avLst/>
          </a:prstGeom>
          <a:noFill/>
          <a:ln/>
        </p:spPr>
        <p:txBody>
          <a:bodyPr wrap="square" rtlCol="0" anchor="ctr"/>
          <a:lstStyle/>
          <a:p>
            <a:pPr marL="0" indent="0" algn="l">
              <a:buNone/>
            </a:pPr>
            <a:r>
              <a:rPr lang="en-US" sz="700" b="1" dirty="0">
                <a:solidFill>
                  <a:srgbClr val="D97706"/>
                </a:solidFill>
              </a:rPr>
              <a:t>WHAT</a:t>
            </a:r>
            <a:endParaRPr lang="en-US" sz="700" dirty="0"/>
          </a:p>
        </p:txBody>
      </p:sp>
      <p:sp>
        <p:nvSpPr>
          <p:cNvPr id="22" name="Text 20"/>
          <p:cNvSpPr/>
          <p:nvPr/>
        </p:nvSpPr>
        <p:spPr>
          <a:xfrm>
            <a:off x="3218688" y="2112264"/>
            <a:ext cx="2322576" cy="658368"/>
          </a:xfrm>
          <a:prstGeom prst="rect">
            <a:avLst/>
          </a:prstGeom>
          <a:noFill/>
          <a:ln/>
        </p:spPr>
        <p:txBody>
          <a:bodyPr wrap="square" rtlCol="0" anchor="t"/>
          <a:lstStyle/>
          <a:p>
            <a:pPr marL="0" indent="0" algn="l">
              <a:buNone/>
            </a:pPr>
            <a:r>
              <a:rPr lang="en-US" sz="850" dirty="0">
                <a:solidFill>
                  <a:srgbClr val="1E293B"/>
                </a:solidFill>
              </a:rPr>
              <a:t>Contracts with AI vendors and data suppliers frequently include change-of-control clauses triggered automatically. Core systems may lose access to models or data feeds within days of close.</a:t>
            </a:r>
            <a:endParaRPr lang="en-US" sz="850" dirty="0"/>
          </a:p>
        </p:txBody>
      </p:sp>
      <p:sp>
        <p:nvSpPr>
          <p:cNvPr id="23" name="Text 21"/>
          <p:cNvSpPr/>
          <p:nvPr/>
        </p:nvSpPr>
        <p:spPr>
          <a:xfrm>
            <a:off x="3218688" y="2798064"/>
            <a:ext cx="502920" cy="155448"/>
          </a:xfrm>
          <a:prstGeom prst="rect">
            <a:avLst/>
          </a:prstGeom>
          <a:noFill/>
          <a:ln/>
        </p:spPr>
        <p:txBody>
          <a:bodyPr wrap="square" rtlCol="0" anchor="ctr"/>
          <a:lstStyle/>
          <a:p>
            <a:pPr marL="0" indent="0" algn="l">
              <a:buNone/>
            </a:pPr>
            <a:r>
              <a:rPr lang="en-US" sz="700" b="1" dirty="0">
                <a:solidFill>
                  <a:srgbClr val="D97706"/>
                </a:solidFill>
              </a:rPr>
              <a:t>IMPACT</a:t>
            </a:r>
            <a:endParaRPr lang="en-US" sz="700" dirty="0"/>
          </a:p>
        </p:txBody>
      </p:sp>
      <p:sp>
        <p:nvSpPr>
          <p:cNvPr id="24" name="Text 22"/>
          <p:cNvSpPr/>
          <p:nvPr/>
        </p:nvSpPr>
        <p:spPr>
          <a:xfrm>
            <a:off x="3218688" y="2953512"/>
            <a:ext cx="2322576" cy="548640"/>
          </a:xfrm>
          <a:prstGeom prst="rect">
            <a:avLst/>
          </a:prstGeom>
          <a:noFill/>
          <a:ln/>
        </p:spPr>
        <p:txBody>
          <a:bodyPr wrap="square" rtlCol="0" anchor="t"/>
          <a:lstStyle/>
          <a:p>
            <a:pPr marL="0" indent="0" algn="l">
              <a:buNone/>
            </a:pPr>
            <a:r>
              <a:rPr lang="en-US" sz="850" dirty="0">
                <a:solidFill>
                  <a:srgbClr val="1E293B"/>
                </a:solidFill>
              </a:rPr>
              <a:t>Immediate Dependency Risk (Taxonomy A9) — particularly for FraudShield and foundation model contracts. Accountability gaps if systems lose their operating basis.</a:t>
            </a:r>
            <a:endParaRPr lang="en-US" sz="850" dirty="0"/>
          </a:p>
        </p:txBody>
      </p:sp>
      <p:sp>
        <p:nvSpPr>
          <p:cNvPr id="25" name="Text 23"/>
          <p:cNvSpPr/>
          <p:nvPr/>
        </p:nvSpPr>
        <p:spPr>
          <a:xfrm>
            <a:off x="3218688" y="3538728"/>
            <a:ext cx="1645920" cy="155448"/>
          </a:xfrm>
          <a:prstGeom prst="rect">
            <a:avLst/>
          </a:prstGeom>
          <a:noFill/>
          <a:ln/>
        </p:spPr>
        <p:txBody>
          <a:bodyPr wrap="square" rtlCol="0" anchor="ctr"/>
          <a:lstStyle/>
          <a:p>
            <a:pPr marL="0" indent="0" algn="l">
              <a:buNone/>
            </a:pPr>
            <a:r>
              <a:rPr lang="en-US" sz="700" b="1" dirty="0">
                <a:solidFill>
                  <a:srgbClr val="D97706"/>
                </a:solidFill>
              </a:rPr>
              <a:t>GOVERNANCE RESPONSE</a:t>
            </a:r>
            <a:endParaRPr lang="en-US" sz="700" dirty="0"/>
          </a:p>
        </p:txBody>
      </p:sp>
      <p:sp>
        <p:nvSpPr>
          <p:cNvPr id="26" name="Text 24"/>
          <p:cNvSpPr/>
          <p:nvPr/>
        </p:nvSpPr>
        <p:spPr>
          <a:xfrm>
            <a:off x="3218688" y="3694176"/>
            <a:ext cx="2322576" cy="475488"/>
          </a:xfrm>
          <a:prstGeom prst="rect">
            <a:avLst/>
          </a:prstGeom>
          <a:noFill/>
          <a:ln/>
        </p:spPr>
        <p:txBody>
          <a:bodyPr wrap="square" rtlCol="0" anchor="t"/>
          <a:lstStyle/>
          <a:p>
            <a:pPr marL="0" indent="0" algn="l">
              <a:buNone/>
            </a:pPr>
            <a:r>
              <a:rPr lang="en-US" sz="850" dirty="0">
                <a:solidFill>
                  <a:srgbClr val="1E293B"/>
                </a:solidFill>
              </a:rPr>
              <a:t>Pre-close vendor contract audit. Assign interim fallback for FraudShield. DORA Art. 28–30 applied as Nordhaven group benchmark (Assumption A2).</a:t>
            </a:r>
            <a:endParaRPr lang="en-US" sz="850" dirty="0"/>
          </a:p>
        </p:txBody>
      </p:sp>
      <p:sp>
        <p:nvSpPr>
          <p:cNvPr id="27" name="Shape 25"/>
          <p:cNvSpPr/>
          <p:nvPr/>
        </p:nvSpPr>
        <p:spPr>
          <a:xfrm>
            <a:off x="3108960" y="4315968"/>
            <a:ext cx="2542032" cy="256032"/>
          </a:xfrm>
          <a:prstGeom prst="rect">
            <a:avLst/>
          </a:prstGeom>
          <a:solidFill>
            <a:srgbClr val="D6E4F7"/>
          </a:solidFill>
          <a:ln w="6350">
            <a:solidFill>
              <a:srgbClr val="CBD5E1"/>
            </a:solidFill>
            <a:prstDash val="solid"/>
          </a:ln>
        </p:spPr>
        <p:txBody>
          <a:bodyPr/>
          <a:lstStyle/>
          <a:p>
            <a:endParaRPr lang="en-US"/>
          </a:p>
        </p:txBody>
      </p:sp>
      <p:sp>
        <p:nvSpPr>
          <p:cNvPr id="28" name="Text 26"/>
          <p:cNvSpPr/>
          <p:nvPr/>
        </p:nvSpPr>
        <p:spPr>
          <a:xfrm>
            <a:off x="3200400" y="4315968"/>
            <a:ext cx="2359152" cy="256032"/>
          </a:xfrm>
          <a:prstGeom prst="rect">
            <a:avLst/>
          </a:prstGeom>
          <a:noFill/>
          <a:ln/>
        </p:spPr>
        <p:txBody>
          <a:bodyPr wrap="square" rtlCol="0" anchor="ctr"/>
          <a:lstStyle/>
          <a:p>
            <a:pPr marL="0" indent="0" algn="l">
              <a:buNone/>
            </a:pPr>
            <a:r>
              <a:rPr lang="en-US" sz="700" i="1" dirty="0" err="1">
                <a:solidFill>
                  <a:srgbClr val="475569"/>
                </a:solidFill>
              </a:rPr>
              <a:t>Bıçakçı</a:t>
            </a:r>
            <a:r>
              <a:rPr lang="en-US" sz="700" i="1" dirty="0">
                <a:solidFill>
                  <a:srgbClr val="475569"/>
                </a:solidFill>
              </a:rPr>
              <a:t>; Brief Slides ('Change-of-Control'); EAIRM §5.1; DORA Art. 28–30; ISO/IEC 27036</a:t>
            </a:r>
            <a:endParaRPr lang="en-US" sz="700" dirty="0"/>
          </a:p>
        </p:txBody>
      </p:sp>
      <p:sp>
        <p:nvSpPr>
          <p:cNvPr id="29" name="Shape 27"/>
          <p:cNvSpPr/>
          <p:nvPr/>
        </p:nvSpPr>
        <p:spPr>
          <a:xfrm>
            <a:off x="5897880" y="1572768"/>
            <a:ext cx="2542032" cy="2999232"/>
          </a:xfrm>
          <a:prstGeom prst="rect">
            <a:avLst/>
          </a:prstGeom>
          <a:solidFill>
            <a:srgbClr val="F4F7FC"/>
          </a:solidFill>
          <a:ln w="9525">
            <a:solidFill>
              <a:srgbClr val="CBD5E1"/>
            </a:solidFill>
            <a:prstDash val="solid"/>
          </a:ln>
          <a:effectLst>
            <a:outerShdw blurRad="63500" dist="25400" dir="8100000" algn="bl" rotWithShape="0">
              <a:srgbClr val="000000">
                <a:alpha val="7000"/>
              </a:srgbClr>
            </a:outerShdw>
          </a:effectLst>
        </p:spPr>
        <p:txBody>
          <a:bodyPr/>
          <a:lstStyle/>
          <a:p>
            <a:endParaRPr lang="en-US"/>
          </a:p>
        </p:txBody>
      </p:sp>
      <p:sp>
        <p:nvSpPr>
          <p:cNvPr id="30" name="Shape 28"/>
          <p:cNvSpPr/>
          <p:nvPr/>
        </p:nvSpPr>
        <p:spPr>
          <a:xfrm>
            <a:off x="5897880" y="1572768"/>
            <a:ext cx="2542032" cy="329184"/>
          </a:xfrm>
          <a:prstGeom prst="rect">
            <a:avLst/>
          </a:prstGeom>
          <a:solidFill>
            <a:srgbClr val="1C2951"/>
          </a:solidFill>
          <a:ln w="12700">
            <a:solidFill>
              <a:srgbClr val="1C2951"/>
            </a:solidFill>
            <a:prstDash val="solid"/>
          </a:ln>
        </p:spPr>
        <p:txBody>
          <a:bodyPr/>
          <a:lstStyle/>
          <a:p>
            <a:endParaRPr lang="en-US"/>
          </a:p>
        </p:txBody>
      </p:sp>
      <p:sp>
        <p:nvSpPr>
          <p:cNvPr id="31" name="Text 29"/>
          <p:cNvSpPr/>
          <p:nvPr/>
        </p:nvSpPr>
        <p:spPr>
          <a:xfrm>
            <a:off x="5989320" y="1572768"/>
            <a:ext cx="2359152" cy="329184"/>
          </a:xfrm>
          <a:prstGeom prst="rect">
            <a:avLst/>
          </a:prstGeom>
          <a:noFill/>
          <a:ln/>
        </p:spPr>
        <p:txBody>
          <a:bodyPr wrap="square" rtlCol="0" anchor="ctr"/>
          <a:lstStyle/>
          <a:p>
            <a:r>
              <a:rPr lang="en-US" sz="900" b="1" dirty="0">
                <a:solidFill>
                  <a:srgbClr val="FFFFFF"/>
                </a:solidFill>
              </a:rPr>
              <a:t>G5c  · Talent Flight &amp; Orphaned Models</a:t>
            </a:r>
            <a:endParaRPr lang="en-US" sz="900" dirty="0"/>
          </a:p>
        </p:txBody>
      </p:sp>
      <p:sp>
        <p:nvSpPr>
          <p:cNvPr id="32" name="Text 30"/>
          <p:cNvSpPr/>
          <p:nvPr/>
        </p:nvSpPr>
        <p:spPr>
          <a:xfrm>
            <a:off x="6007608" y="1956816"/>
            <a:ext cx="502920" cy="164592"/>
          </a:xfrm>
          <a:prstGeom prst="rect">
            <a:avLst/>
          </a:prstGeom>
          <a:noFill/>
          <a:ln/>
        </p:spPr>
        <p:txBody>
          <a:bodyPr wrap="square" rtlCol="0" anchor="ctr"/>
          <a:lstStyle/>
          <a:p>
            <a:pPr marL="0" indent="0" algn="l">
              <a:buNone/>
            </a:pPr>
            <a:r>
              <a:rPr lang="en-US" sz="700" b="1" dirty="0">
                <a:solidFill>
                  <a:srgbClr val="1C2951"/>
                </a:solidFill>
              </a:rPr>
              <a:t>WHAT</a:t>
            </a:r>
            <a:endParaRPr lang="en-US" sz="700" dirty="0"/>
          </a:p>
        </p:txBody>
      </p:sp>
      <p:sp>
        <p:nvSpPr>
          <p:cNvPr id="33" name="Text 31"/>
          <p:cNvSpPr/>
          <p:nvPr/>
        </p:nvSpPr>
        <p:spPr>
          <a:xfrm>
            <a:off x="6007608" y="2112264"/>
            <a:ext cx="2322576" cy="658368"/>
          </a:xfrm>
          <a:prstGeom prst="rect">
            <a:avLst/>
          </a:prstGeom>
          <a:noFill/>
          <a:ln/>
        </p:spPr>
        <p:txBody>
          <a:bodyPr wrap="square" rtlCol="0" anchor="t"/>
          <a:lstStyle/>
          <a:p>
            <a:pPr marL="0" indent="0" algn="l">
              <a:buNone/>
            </a:pPr>
            <a:r>
              <a:rPr lang="en-US" sz="850" dirty="0">
                <a:solidFill>
                  <a:srgbClr val="1E293B"/>
                </a:solidFill>
              </a:rPr>
              <a:t>Key AI engineers hold institutional knowledge not captured in documentation. No binding employment contracts — standard 3-month notice periods only.</a:t>
            </a:r>
            <a:endParaRPr lang="en-US" sz="850" dirty="0"/>
          </a:p>
        </p:txBody>
      </p:sp>
      <p:sp>
        <p:nvSpPr>
          <p:cNvPr id="34" name="Text 32"/>
          <p:cNvSpPr/>
          <p:nvPr/>
        </p:nvSpPr>
        <p:spPr>
          <a:xfrm>
            <a:off x="6007608" y="2798064"/>
            <a:ext cx="502920" cy="155448"/>
          </a:xfrm>
          <a:prstGeom prst="rect">
            <a:avLst/>
          </a:prstGeom>
          <a:noFill/>
          <a:ln/>
        </p:spPr>
        <p:txBody>
          <a:bodyPr wrap="square" rtlCol="0" anchor="ctr"/>
          <a:lstStyle/>
          <a:p>
            <a:pPr marL="0" indent="0" algn="l">
              <a:buNone/>
            </a:pPr>
            <a:r>
              <a:rPr lang="en-US" sz="700" b="1" dirty="0">
                <a:solidFill>
                  <a:srgbClr val="1C2951"/>
                </a:solidFill>
              </a:rPr>
              <a:t>IMPACT</a:t>
            </a:r>
            <a:endParaRPr lang="en-US" sz="700" dirty="0"/>
          </a:p>
        </p:txBody>
      </p:sp>
      <p:sp>
        <p:nvSpPr>
          <p:cNvPr id="35" name="Text 33"/>
          <p:cNvSpPr/>
          <p:nvPr/>
        </p:nvSpPr>
        <p:spPr>
          <a:xfrm>
            <a:off x="6007608" y="2953512"/>
            <a:ext cx="2322576" cy="548640"/>
          </a:xfrm>
          <a:prstGeom prst="rect">
            <a:avLst/>
          </a:prstGeom>
          <a:noFill/>
          <a:ln/>
        </p:spPr>
        <p:txBody>
          <a:bodyPr wrap="square" rtlCol="0" anchor="t"/>
          <a:lstStyle/>
          <a:p>
            <a:pPr marL="0" indent="0" algn="l">
              <a:buNone/>
            </a:pPr>
            <a:r>
              <a:rPr lang="en-US" sz="850" dirty="0">
                <a:solidFill>
                  <a:srgbClr val="1E293B"/>
                </a:solidFill>
              </a:rPr>
              <a:t>'If you can't name an accountable owner for a lifecycle stage, assume that's where the next incident will happen.' Orphaned models = governance + operational failure simultaneously.</a:t>
            </a:r>
            <a:endParaRPr lang="en-US" sz="850" dirty="0"/>
          </a:p>
        </p:txBody>
      </p:sp>
      <p:sp>
        <p:nvSpPr>
          <p:cNvPr id="36" name="Text 34"/>
          <p:cNvSpPr/>
          <p:nvPr/>
        </p:nvSpPr>
        <p:spPr>
          <a:xfrm>
            <a:off x="6007608" y="3629853"/>
            <a:ext cx="1645920" cy="155448"/>
          </a:xfrm>
          <a:prstGeom prst="rect">
            <a:avLst/>
          </a:prstGeom>
          <a:noFill/>
          <a:ln/>
        </p:spPr>
        <p:txBody>
          <a:bodyPr wrap="square" rtlCol="0" anchor="ctr"/>
          <a:lstStyle/>
          <a:p>
            <a:pPr marL="0" indent="0" algn="l">
              <a:buNone/>
            </a:pPr>
            <a:r>
              <a:rPr lang="en-US" sz="700" b="1" dirty="0">
                <a:solidFill>
                  <a:srgbClr val="1C2951"/>
                </a:solidFill>
              </a:rPr>
              <a:t>GOVERNANCE RESPONSE</a:t>
            </a:r>
            <a:endParaRPr lang="en-US" sz="700" dirty="0"/>
          </a:p>
        </p:txBody>
      </p:sp>
      <p:sp>
        <p:nvSpPr>
          <p:cNvPr id="37" name="Text 35"/>
          <p:cNvSpPr/>
          <p:nvPr/>
        </p:nvSpPr>
        <p:spPr>
          <a:xfrm>
            <a:off x="6007608" y="3785301"/>
            <a:ext cx="2322576" cy="475488"/>
          </a:xfrm>
          <a:prstGeom prst="rect">
            <a:avLst/>
          </a:prstGeom>
          <a:noFill/>
          <a:ln/>
        </p:spPr>
        <p:txBody>
          <a:bodyPr wrap="square" rtlCol="0" anchor="t"/>
          <a:lstStyle/>
          <a:p>
            <a:pPr marL="0" indent="0" algn="l">
              <a:buNone/>
            </a:pPr>
            <a:r>
              <a:rPr lang="en-US" sz="850" dirty="0">
                <a:solidFill>
                  <a:srgbClr val="1E293B"/>
                </a:solidFill>
              </a:rPr>
              <a:t>RACI assigned across all lifecycle stages before close. ISO/IEC 42001 Cl.5 accountability records. Lifecycle risk entry in B1 register.</a:t>
            </a:r>
            <a:endParaRPr lang="en-US" sz="850" dirty="0"/>
          </a:p>
        </p:txBody>
      </p:sp>
      <p:sp>
        <p:nvSpPr>
          <p:cNvPr id="38" name="Shape 36"/>
          <p:cNvSpPr/>
          <p:nvPr/>
        </p:nvSpPr>
        <p:spPr>
          <a:xfrm>
            <a:off x="5897880" y="4315968"/>
            <a:ext cx="2542032" cy="256032"/>
          </a:xfrm>
          <a:prstGeom prst="rect">
            <a:avLst/>
          </a:prstGeom>
          <a:solidFill>
            <a:srgbClr val="D6E4F7"/>
          </a:solidFill>
          <a:ln w="6350">
            <a:solidFill>
              <a:srgbClr val="CBD5E1"/>
            </a:solidFill>
            <a:prstDash val="solid"/>
          </a:ln>
        </p:spPr>
        <p:txBody>
          <a:bodyPr/>
          <a:lstStyle/>
          <a:p>
            <a:endParaRPr lang="en-US"/>
          </a:p>
        </p:txBody>
      </p:sp>
      <p:sp>
        <p:nvSpPr>
          <p:cNvPr id="39" name="Text 37"/>
          <p:cNvSpPr/>
          <p:nvPr/>
        </p:nvSpPr>
        <p:spPr>
          <a:xfrm>
            <a:off x="5989320" y="4315968"/>
            <a:ext cx="2359152" cy="256032"/>
          </a:xfrm>
          <a:prstGeom prst="rect">
            <a:avLst/>
          </a:prstGeom>
          <a:noFill/>
          <a:ln/>
        </p:spPr>
        <p:txBody>
          <a:bodyPr wrap="square" rtlCol="0" anchor="ctr"/>
          <a:lstStyle/>
          <a:p>
            <a:pPr marL="0" indent="0" algn="l">
              <a:buNone/>
            </a:pPr>
            <a:r>
              <a:rPr lang="en-US" sz="700" i="1" dirty="0" err="1">
                <a:solidFill>
                  <a:srgbClr val="475569"/>
                </a:solidFill>
              </a:rPr>
              <a:t>Bıçakçı</a:t>
            </a:r>
            <a:r>
              <a:rPr lang="en-US" sz="700" i="1" dirty="0">
                <a:solidFill>
                  <a:srgbClr val="475569"/>
                </a:solidFill>
              </a:rPr>
              <a:t>; Submission Guidance (no binding contracts confirmed); ISO/IEC 42001 Cl.5</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554480" cy="256032"/>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201168"/>
            <a:ext cx="1554480" cy="256032"/>
          </a:xfrm>
          <a:prstGeom prst="rect">
            <a:avLst/>
          </a:prstGeom>
          <a:noFill/>
          <a:ln/>
        </p:spPr>
        <p:txBody>
          <a:bodyPr wrap="square" lIns="0" tIns="0" rIns="0" bIns="0" rtlCol="0" anchor="ctr"/>
          <a:lstStyle/>
          <a:p>
            <a:pPr marL="0" indent="0" algn="ctr">
              <a:buNone/>
            </a:pPr>
            <a:r>
              <a:rPr lang="en-US" sz="750" b="1" dirty="0">
                <a:solidFill>
                  <a:srgbClr val="FFFFFF"/>
                </a:solidFill>
              </a:rPr>
              <a:t>G6  ·  100-DAY PLAN</a:t>
            </a:r>
            <a:endParaRPr lang="en-US" sz="750" dirty="0"/>
          </a:p>
        </p:txBody>
      </p:sp>
      <p:sp>
        <p:nvSpPr>
          <p:cNvPr id="4" name="Text 2"/>
          <p:cNvSpPr/>
          <p:nvPr/>
        </p:nvSpPr>
        <p:spPr>
          <a:xfrm>
            <a:off x="457200" y="512064"/>
            <a:ext cx="8229600" cy="658368"/>
          </a:xfrm>
          <a:prstGeom prst="rect">
            <a:avLst/>
          </a:prstGeom>
          <a:noFill/>
          <a:ln/>
        </p:spPr>
        <p:txBody>
          <a:bodyPr wrap="square" rtlCol="0" anchor="ctr"/>
          <a:lstStyle/>
          <a:p>
            <a:pPr marL="0" indent="0" algn="l">
              <a:buNone/>
            </a:pPr>
            <a:r>
              <a:rPr lang="en-US" sz="2400" b="1" dirty="0">
                <a:solidFill>
                  <a:srgbClr val="1C2951"/>
                </a:solidFill>
                <a:latin typeface="Calibri" pitchFamily="34" charset="0"/>
                <a:ea typeface="Calibri" pitchFamily="34" charset="-122"/>
                <a:cs typeface="Calibri" pitchFamily="34" charset="-120"/>
              </a:rPr>
              <a:t>100-Day Governance Integration Plan</a:t>
            </a:r>
            <a:endParaRPr lang="en-US" sz="2400" dirty="0"/>
          </a:p>
        </p:txBody>
      </p:sp>
      <p:sp>
        <p:nvSpPr>
          <p:cNvPr id="5" name="Shape 3"/>
          <p:cNvSpPr/>
          <p:nvPr/>
        </p:nvSpPr>
        <p:spPr>
          <a:xfrm>
            <a:off x="457200" y="1207008"/>
            <a:ext cx="8229600" cy="27432"/>
          </a:xfrm>
          <a:prstGeom prst="rect">
            <a:avLst/>
          </a:prstGeom>
          <a:solidFill>
            <a:srgbClr val="CBD5E1"/>
          </a:solidFill>
          <a:ln w="12700">
            <a:solidFill>
              <a:srgbClr val="CBD5E1"/>
            </a:solidFill>
            <a:prstDash val="solid"/>
          </a:ln>
        </p:spPr>
        <p:txBody>
          <a:bodyPr/>
          <a:lstStyle/>
          <a:p>
            <a:endParaRPr lang="en-US"/>
          </a:p>
        </p:txBody>
      </p:sp>
      <p:sp>
        <p:nvSpPr>
          <p:cNvPr id="6" name="Text 4"/>
          <p:cNvSpPr/>
          <p:nvPr/>
        </p:nvSpPr>
        <p:spPr>
          <a:xfrm>
            <a:off x="320040" y="1243584"/>
            <a:ext cx="8503920" cy="256032"/>
          </a:xfrm>
          <a:prstGeom prst="rect">
            <a:avLst/>
          </a:prstGeom>
          <a:noFill/>
          <a:ln/>
        </p:spPr>
        <p:txBody>
          <a:bodyPr wrap="square" rtlCol="0" anchor="ctr"/>
          <a:lstStyle/>
          <a:p>
            <a:pPr marL="0" indent="0" algn="l">
              <a:buNone/>
            </a:pPr>
            <a:r>
              <a:rPr lang="en-US" sz="900" i="1" dirty="0">
                <a:solidFill>
                  <a:srgbClr val="475569"/>
                </a:solidFill>
              </a:rPr>
              <a:t>Anchored to NIST AI RMF functions (EAIRM Framework §7; Bıçakçı, Day 5 </a:t>
            </a:r>
            <a:r>
              <a:rPr lang="en-US" sz="900" i="1" dirty="0" err="1">
                <a:solidFill>
                  <a:srgbClr val="475569"/>
                </a:solidFill>
              </a:rPr>
              <a:t>Sess</a:t>
            </a:r>
            <a:r>
              <a:rPr lang="en-US" sz="900" i="1" dirty="0">
                <a:solidFill>
                  <a:srgbClr val="475569"/>
                </a:solidFill>
              </a:rPr>
              <a:t> 3). Adapted from Kok's illustrative 90-day plan (Day 3 Sess 2, Slide p.36).</a:t>
            </a:r>
            <a:endParaRPr lang="en-US" sz="900" dirty="0"/>
          </a:p>
        </p:txBody>
      </p:sp>
      <p:sp>
        <p:nvSpPr>
          <p:cNvPr id="7" name="Shape 5"/>
          <p:cNvSpPr/>
          <p:nvPr/>
        </p:nvSpPr>
        <p:spPr>
          <a:xfrm>
            <a:off x="320040" y="1572768"/>
            <a:ext cx="2633472" cy="3200400"/>
          </a:xfrm>
          <a:prstGeom prst="rect">
            <a:avLst/>
          </a:prstGeom>
          <a:solidFill>
            <a:srgbClr val="F4F7FC"/>
          </a:solidFill>
          <a:ln w="9525">
            <a:solidFill>
              <a:srgbClr val="CBD5E1"/>
            </a:solidFill>
            <a:prstDash val="solid"/>
          </a:ln>
          <a:effectLst>
            <a:outerShdw blurRad="63500" dist="25400" dir="8100000" algn="bl" rotWithShape="0">
              <a:srgbClr val="000000">
                <a:alpha val="7000"/>
              </a:srgbClr>
            </a:outerShdw>
          </a:effectLst>
        </p:spPr>
        <p:txBody>
          <a:bodyPr/>
          <a:lstStyle/>
          <a:p>
            <a:endParaRPr lang="en-US"/>
          </a:p>
        </p:txBody>
      </p:sp>
      <p:sp>
        <p:nvSpPr>
          <p:cNvPr id="8" name="Shape 6"/>
          <p:cNvSpPr/>
          <p:nvPr/>
        </p:nvSpPr>
        <p:spPr>
          <a:xfrm>
            <a:off x="320040" y="1572768"/>
            <a:ext cx="2633472" cy="457200"/>
          </a:xfrm>
          <a:prstGeom prst="rect">
            <a:avLst/>
          </a:prstGeom>
          <a:solidFill>
            <a:srgbClr val="1D4ED8"/>
          </a:solidFill>
          <a:ln w="12700">
            <a:solidFill>
              <a:srgbClr val="1D4ED8"/>
            </a:solidFill>
            <a:prstDash val="solid"/>
          </a:ln>
        </p:spPr>
        <p:txBody>
          <a:bodyPr/>
          <a:lstStyle/>
          <a:p>
            <a:endParaRPr lang="en-US"/>
          </a:p>
        </p:txBody>
      </p:sp>
      <p:sp>
        <p:nvSpPr>
          <p:cNvPr id="9" name="Text 7"/>
          <p:cNvSpPr/>
          <p:nvPr/>
        </p:nvSpPr>
        <p:spPr>
          <a:xfrm>
            <a:off x="411480" y="1591056"/>
            <a:ext cx="2450592" cy="219456"/>
          </a:xfrm>
          <a:prstGeom prst="rect">
            <a:avLst/>
          </a:prstGeom>
          <a:noFill/>
          <a:ln/>
        </p:spPr>
        <p:txBody>
          <a:bodyPr wrap="square" lIns="0" tIns="0" rIns="0" bIns="0" rtlCol="0" anchor="t"/>
          <a:lstStyle/>
          <a:p>
            <a:pPr marL="0" indent="0" algn="l">
              <a:buNone/>
            </a:pPr>
            <a:r>
              <a:rPr lang="en-US" sz="1100" b="1" dirty="0">
                <a:solidFill>
                  <a:srgbClr val="FFFFFF"/>
                </a:solidFill>
              </a:rPr>
              <a:t>DAYS 1–30</a:t>
            </a:r>
            <a:endParaRPr lang="en-US" sz="1100" dirty="0"/>
          </a:p>
        </p:txBody>
      </p:sp>
      <p:sp>
        <p:nvSpPr>
          <p:cNvPr id="10" name="Text 8"/>
          <p:cNvSpPr/>
          <p:nvPr/>
        </p:nvSpPr>
        <p:spPr>
          <a:xfrm>
            <a:off x="411480" y="1819656"/>
            <a:ext cx="2450592" cy="182880"/>
          </a:xfrm>
          <a:prstGeom prst="rect">
            <a:avLst/>
          </a:prstGeom>
          <a:noFill/>
          <a:ln/>
        </p:spPr>
        <p:txBody>
          <a:bodyPr wrap="square" lIns="0" tIns="0" rIns="0" bIns="0" rtlCol="0" anchor="t"/>
          <a:lstStyle/>
          <a:p>
            <a:pPr marL="0" indent="0" algn="l">
              <a:buNone/>
            </a:pPr>
            <a:r>
              <a:rPr lang="en-US" sz="850" dirty="0">
                <a:solidFill>
                  <a:srgbClr val="FFFFFF"/>
                </a:solidFill>
              </a:rPr>
              <a:t>GOVERN — Establish</a:t>
            </a:r>
            <a:endParaRPr lang="en-US" sz="850" dirty="0"/>
          </a:p>
        </p:txBody>
      </p:sp>
      <p:sp>
        <p:nvSpPr>
          <p:cNvPr id="11" name="Text 9"/>
          <p:cNvSpPr/>
          <p:nvPr/>
        </p:nvSpPr>
        <p:spPr>
          <a:xfrm>
            <a:off x="411480" y="2084832"/>
            <a:ext cx="2450592" cy="2377440"/>
          </a:xfrm>
          <a:prstGeom prst="rect">
            <a:avLst/>
          </a:prstGeom>
          <a:noFill/>
          <a:ln/>
        </p:spPr>
        <p:txBody>
          <a:bodyPr wrap="square" rtlCol="0" anchor="t"/>
          <a:lstStyle/>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Appoint named accountability owner (SMF-designated role; proposed Group CRO or equivalent); update Statement of Responsibilities</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Shadow AI discovery exercise: full inventory of all undocumented LumaPay AI tools</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Interim RACI for all four LumaPay systems across six lifecycle stages</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Draft unified AI Risk Appetite Statement with LIMIT/CAUTION/TARGET RAG bands</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Establish combined AI asset inventory (unified registry)</a:t>
            </a:r>
            <a:endParaRPr lang="en-US" sz="850" dirty="0"/>
          </a:p>
        </p:txBody>
      </p:sp>
      <p:sp>
        <p:nvSpPr>
          <p:cNvPr id="12" name="Shape 10"/>
          <p:cNvSpPr/>
          <p:nvPr/>
        </p:nvSpPr>
        <p:spPr>
          <a:xfrm>
            <a:off x="320040" y="4443984"/>
            <a:ext cx="2633472" cy="329184"/>
          </a:xfrm>
          <a:prstGeom prst="rect">
            <a:avLst/>
          </a:prstGeom>
          <a:solidFill>
            <a:srgbClr val="D6E4F7"/>
          </a:solidFill>
          <a:ln w="6350">
            <a:solidFill>
              <a:srgbClr val="CBD5E1"/>
            </a:solidFill>
            <a:prstDash val="solid"/>
          </a:ln>
        </p:spPr>
        <p:txBody>
          <a:bodyPr/>
          <a:lstStyle/>
          <a:p>
            <a:endParaRPr lang="en-US"/>
          </a:p>
        </p:txBody>
      </p:sp>
      <p:sp>
        <p:nvSpPr>
          <p:cNvPr id="13" name="Text 11"/>
          <p:cNvSpPr/>
          <p:nvPr/>
        </p:nvSpPr>
        <p:spPr>
          <a:xfrm>
            <a:off x="411480" y="4443984"/>
            <a:ext cx="2450592" cy="329184"/>
          </a:xfrm>
          <a:prstGeom prst="rect">
            <a:avLst/>
          </a:prstGeom>
          <a:noFill/>
          <a:ln/>
        </p:spPr>
        <p:txBody>
          <a:bodyPr wrap="square" rtlCol="0" anchor="ctr"/>
          <a:lstStyle/>
          <a:p>
            <a:pPr marL="0" indent="0" algn="l">
              <a:buNone/>
            </a:pPr>
            <a:r>
              <a:rPr lang="en-US" sz="750" i="1" dirty="0">
                <a:solidFill>
                  <a:srgbClr val="243461"/>
                </a:solidFill>
              </a:rPr>
              <a:t>NIST AI RMF GOVERN 2 · ISO/IEC 42001 Cl.5–6 · UK Corp Gov Code</a:t>
            </a:r>
            <a:endParaRPr lang="en-US" sz="750" dirty="0"/>
          </a:p>
        </p:txBody>
      </p:sp>
      <p:sp>
        <p:nvSpPr>
          <p:cNvPr id="14" name="Shape 12"/>
          <p:cNvSpPr/>
          <p:nvPr/>
        </p:nvSpPr>
        <p:spPr>
          <a:xfrm>
            <a:off x="3090672" y="1572768"/>
            <a:ext cx="2633472" cy="3200400"/>
          </a:xfrm>
          <a:prstGeom prst="rect">
            <a:avLst/>
          </a:prstGeom>
          <a:solidFill>
            <a:srgbClr val="F4F7FC"/>
          </a:solidFill>
          <a:ln w="9525">
            <a:solidFill>
              <a:srgbClr val="CBD5E1"/>
            </a:solidFill>
            <a:prstDash val="solid"/>
          </a:ln>
          <a:effectLst>
            <a:outerShdw blurRad="63500" dist="25400" dir="8100000" algn="bl" rotWithShape="0">
              <a:srgbClr val="000000">
                <a:alpha val="7000"/>
              </a:srgbClr>
            </a:outerShdw>
          </a:effectLst>
        </p:spPr>
        <p:txBody>
          <a:bodyPr/>
          <a:lstStyle/>
          <a:p>
            <a:endParaRPr lang="en-US"/>
          </a:p>
        </p:txBody>
      </p:sp>
      <p:sp>
        <p:nvSpPr>
          <p:cNvPr id="15" name="Shape 13"/>
          <p:cNvSpPr/>
          <p:nvPr/>
        </p:nvSpPr>
        <p:spPr>
          <a:xfrm>
            <a:off x="3090672" y="1572768"/>
            <a:ext cx="2633472" cy="457200"/>
          </a:xfrm>
          <a:prstGeom prst="rect">
            <a:avLst/>
          </a:prstGeom>
          <a:solidFill>
            <a:srgbClr val="D97706"/>
          </a:solidFill>
          <a:ln w="12700">
            <a:solidFill>
              <a:srgbClr val="D97706"/>
            </a:solidFill>
            <a:prstDash val="solid"/>
          </a:ln>
        </p:spPr>
        <p:txBody>
          <a:bodyPr/>
          <a:lstStyle/>
          <a:p>
            <a:endParaRPr lang="en-US"/>
          </a:p>
        </p:txBody>
      </p:sp>
      <p:sp>
        <p:nvSpPr>
          <p:cNvPr id="16" name="Text 14"/>
          <p:cNvSpPr/>
          <p:nvPr/>
        </p:nvSpPr>
        <p:spPr>
          <a:xfrm>
            <a:off x="3182112" y="1591056"/>
            <a:ext cx="2450592" cy="219456"/>
          </a:xfrm>
          <a:prstGeom prst="rect">
            <a:avLst/>
          </a:prstGeom>
          <a:noFill/>
          <a:ln/>
        </p:spPr>
        <p:txBody>
          <a:bodyPr wrap="square" lIns="0" tIns="0" rIns="0" bIns="0" rtlCol="0" anchor="t"/>
          <a:lstStyle/>
          <a:p>
            <a:pPr marL="0" indent="0" algn="l">
              <a:buNone/>
            </a:pPr>
            <a:r>
              <a:rPr lang="en-US" sz="1100" b="1" dirty="0">
                <a:solidFill>
                  <a:srgbClr val="FFFFFF"/>
                </a:solidFill>
              </a:rPr>
              <a:t>DAYS 31–60</a:t>
            </a:r>
            <a:endParaRPr lang="en-US" sz="1100" dirty="0"/>
          </a:p>
        </p:txBody>
      </p:sp>
      <p:sp>
        <p:nvSpPr>
          <p:cNvPr id="17" name="Text 15"/>
          <p:cNvSpPr/>
          <p:nvPr/>
        </p:nvSpPr>
        <p:spPr>
          <a:xfrm>
            <a:off x="3182112" y="1819656"/>
            <a:ext cx="2450592" cy="182880"/>
          </a:xfrm>
          <a:prstGeom prst="rect">
            <a:avLst/>
          </a:prstGeom>
          <a:noFill/>
          <a:ln/>
        </p:spPr>
        <p:txBody>
          <a:bodyPr wrap="square" lIns="0" tIns="0" rIns="0" bIns="0" rtlCol="0" anchor="t"/>
          <a:lstStyle/>
          <a:p>
            <a:pPr marL="0" indent="0" algn="l">
              <a:buNone/>
            </a:pPr>
            <a:r>
              <a:rPr lang="en-US" sz="850" dirty="0">
                <a:solidFill>
                  <a:srgbClr val="FFFFFF"/>
                </a:solidFill>
              </a:rPr>
              <a:t>MAP — Classify</a:t>
            </a:r>
            <a:endParaRPr lang="en-US" sz="850" dirty="0"/>
          </a:p>
        </p:txBody>
      </p:sp>
      <p:sp>
        <p:nvSpPr>
          <p:cNvPr id="18" name="Text 16"/>
          <p:cNvSpPr/>
          <p:nvPr/>
        </p:nvSpPr>
        <p:spPr>
          <a:xfrm>
            <a:off x="3182112" y="2084832"/>
            <a:ext cx="2450592" cy="2377440"/>
          </a:xfrm>
          <a:prstGeom prst="rect">
            <a:avLst/>
          </a:prstGeom>
          <a:noFill/>
          <a:ln/>
        </p:spPr>
        <p:txBody>
          <a:bodyPr wrap="square" rtlCol="0" anchor="t"/>
          <a:lstStyle/>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EU AI Act risk classification for all four LumaPay systems (high-risk confirmation for LumaCredit-EU)</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Vendor contract audit: change-of-control clauses for FraudShield (ISO/IEC 27036) and foundation model contracts</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Gap analysis: LumaPay vs ISO/IEC 42001 requirements (documentation, model cards, conformity evidence)</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Data flow mapping: GDPR/UK DPA cross-border transfer review for EU–UK–US data flows</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Complete model card documentation for all four in-scope systems</a:t>
            </a:r>
            <a:endParaRPr lang="en-US" sz="850" dirty="0"/>
          </a:p>
        </p:txBody>
      </p:sp>
      <p:sp>
        <p:nvSpPr>
          <p:cNvPr id="19" name="Shape 17"/>
          <p:cNvSpPr/>
          <p:nvPr/>
        </p:nvSpPr>
        <p:spPr>
          <a:xfrm>
            <a:off x="3090672" y="4443984"/>
            <a:ext cx="2633472" cy="329184"/>
          </a:xfrm>
          <a:prstGeom prst="rect">
            <a:avLst/>
          </a:prstGeom>
          <a:solidFill>
            <a:srgbClr val="D6E4F7"/>
          </a:solidFill>
          <a:ln w="6350">
            <a:solidFill>
              <a:srgbClr val="CBD5E1"/>
            </a:solidFill>
            <a:prstDash val="solid"/>
          </a:ln>
        </p:spPr>
        <p:txBody>
          <a:bodyPr/>
          <a:lstStyle/>
          <a:p>
            <a:endParaRPr lang="en-US"/>
          </a:p>
        </p:txBody>
      </p:sp>
      <p:sp>
        <p:nvSpPr>
          <p:cNvPr id="20" name="Text 18"/>
          <p:cNvSpPr/>
          <p:nvPr/>
        </p:nvSpPr>
        <p:spPr>
          <a:xfrm>
            <a:off x="3182112" y="4443984"/>
            <a:ext cx="2450592" cy="329184"/>
          </a:xfrm>
          <a:prstGeom prst="rect">
            <a:avLst/>
          </a:prstGeom>
          <a:noFill/>
          <a:ln/>
        </p:spPr>
        <p:txBody>
          <a:bodyPr wrap="square" rtlCol="0" anchor="ctr"/>
          <a:lstStyle/>
          <a:p>
            <a:pPr marL="0" indent="0" algn="l">
              <a:buNone/>
            </a:pPr>
            <a:r>
              <a:rPr lang="en-US" sz="750" i="1" dirty="0">
                <a:solidFill>
                  <a:srgbClr val="243461"/>
                </a:solidFill>
              </a:rPr>
              <a:t>NIST AI RMF MAP · EU AI Act Art. 6–7, 9–10 · DORA Art. 28–30 · GDPR Art. 5, 46</a:t>
            </a:r>
            <a:endParaRPr lang="en-US" sz="750" dirty="0"/>
          </a:p>
        </p:txBody>
      </p:sp>
      <p:sp>
        <p:nvSpPr>
          <p:cNvPr id="21" name="Shape 19"/>
          <p:cNvSpPr/>
          <p:nvPr/>
        </p:nvSpPr>
        <p:spPr>
          <a:xfrm>
            <a:off x="5861304" y="1572768"/>
            <a:ext cx="2633472" cy="3200400"/>
          </a:xfrm>
          <a:prstGeom prst="rect">
            <a:avLst/>
          </a:prstGeom>
          <a:solidFill>
            <a:srgbClr val="F4F7FC"/>
          </a:solidFill>
          <a:ln w="9525">
            <a:solidFill>
              <a:srgbClr val="CBD5E1"/>
            </a:solidFill>
            <a:prstDash val="solid"/>
          </a:ln>
          <a:effectLst>
            <a:outerShdw blurRad="63500" dist="25400" dir="8100000" algn="bl" rotWithShape="0">
              <a:srgbClr val="000000">
                <a:alpha val="7000"/>
              </a:srgbClr>
            </a:outerShdw>
          </a:effectLst>
        </p:spPr>
        <p:txBody>
          <a:bodyPr/>
          <a:lstStyle/>
          <a:p>
            <a:endParaRPr lang="en-US"/>
          </a:p>
        </p:txBody>
      </p:sp>
      <p:sp>
        <p:nvSpPr>
          <p:cNvPr id="22" name="Shape 20"/>
          <p:cNvSpPr/>
          <p:nvPr/>
        </p:nvSpPr>
        <p:spPr>
          <a:xfrm>
            <a:off x="5861304" y="1572768"/>
            <a:ext cx="2633472" cy="457200"/>
          </a:xfrm>
          <a:prstGeom prst="rect">
            <a:avLst/>
          </a:prstGeom>
          <a:solidFill>
            <a:srgbClr val="16A34A"/>
          </a:solidFill>
          <a:ln w="12700">
            <a:solidFill>
              <a:srgbClr val="16A34A"/>
            </a:solidFill>
            <a:prstDash val="solid"/>
          </a:ln>
        </p:spPr>
        <p:txBody>
          <a:bodyPr/>
          <a:lstStyle/>
          <a:p>
            <a:endParaRPr lang="en-US"/>
          </a:p>
        </p:txBody>
      </p:sp>
      <p:sp>
        <p:nvSpPr>
          <p:cNvPr id="23" name="Text 21"/>
          <p:cNvSpPr/>
          <p:nvPr/>
        </p:nvSpPr>
        <p:spPr>
          <a:xfrm>
            <a:off x="5952744" y="1591056"/>
            <a:ext cx="2450592" cy="219456"/>
          </a:xfrm>
          <a:prstGeom prst="rect">
            <a:avLst/>
          </a:prstGeom>
          <a:noFill/>
          <a:ln/>
        </p:spPr>
        <p:txBody>
          <a:bodyPr wrap="square" lIns="0" tIns="0" rIns="0" bIns="0" rtlCol="0" anchor="t"/>
          <a:lstStyle/>
          <a:p>
            <a:pPr marL="0" indent="0" algn="l">
              <a:buNone/>
            </a:pPr>
            <a:r>
              <a:rPr lang="en-US" sz="1100" b="1" dirty="0">
                <a:solidFill>
                  <a:srgbClr val="FFFFFF"/>
                </a:solidFill>
              </a:rPr>
              <a:t>DAYS 61–100</a:t>
            </a:r>
            <a:endParaRPr lang="en-US" sz="1100" dirty="0"/>
          </a:p>
        </p:txBody>
      </p:sp>
      <p:sp>
        <p:nvSpPr>
          <p:cNvPr id="24" name="Text 22"/>
          <p:cNvSpPr/>
          <p:nvPr/>
        </p:nvSpPr>
        <p:spPr>
          <a:xfrm>
            <a:off x="5952744" y="1819656"/>
            <a:ext cx="2450592" cy="182880"/>
          </a:xfrm>
          <a:prstGeom prst="rect">
            <a:avLst/>
          </a:prstGeom>
          <a:noFill/>
          <a:ln/>
        </p:spPr>
        <p:txBody>
          <a:bodyPr wrap="square" lIns="0" tIns="0" rIns="0" bIns="0" rtlCol="0" anchor="t"/>
          <a:lstStyle/>
          <a:p>
            <a:pPr marL="0" indent="0" algn="l">
              <a:buNone/>
            </a:pPr>
            <a:r>
              <a:rPr lang="en-US" sz="850" dirty="0">
                <a:solidFill>
                  <a:srgbClr val="FFFFFF"/>
                </a:solidFill>
              </a:rPr>
              <a:t>MANAGE — Operate</a:t>
            </a:r>
            <a:endParaRPr lang="en-US" sz="850" dirty="0"/>
          </a:p>
        </p:txBody>
      </p:sp>
      <p:sp>
        <p:nvSpPr>
          <p:cNvPr id="25" name="Text 23"/>
          <p:cNvSpPr/>
          <p:nvPr/>
        </p:nvSpPr>
        <p:spPr>
          <a:xfrm>
            <a:off x="5952744" y="2084832"/>
            <a:ext cx="2450592" cy="2377440"/>
          </a:xfrm>
          <a:prstGeom prst="rect">
            <a:avLst/>
          </a:prstGeom>
          <a:noFill/>
          <a:ln/>
        </p:spPr>
        <p:txBody>
          <a:bodyPr wrap="square" rtlCol="0" anchor="t"/>
          <a:lstStyle/>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Board Risk Dashboard operational — first monthly KRI review cycle (monthly cadence: Yemi, Day 4 Sess 2)</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First quarterly governance review: RACI confirmed, escalation protocol tested</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Stage-gate milestone: LumaCredit-EU EU AI Act conformity assessment initiated</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AutoUnderwriter Agent: HITL controls implemented and tested; agentic governance framework applied</a:t>
            </a:r>
            <a:endParaRPr lang="en-US" sz="850" dirty="0"/>
          </a:p>
          <a:p>
            <a:pPr marL="342900" indent="-342900" algn="l">
              <a:spcAft>
                <a:spcPts val="200"/>
              </a:spcAft>
              <a:buSzPct val="100000"/>
              <a:buChar char="•"/>
            </a:pPr>
            <a:r>
              <a:rPr lang="en-US" sz="850" dirty="0">
                <a:solidFill>
                  <a:srgbClr val="1E293B"/>
                </a:solidFill>
                <a:latin typeface="Calibri" pitchFamily="34" charset="0"/>
                <a:ea typeface="Calibri" pitchFamily="34" charset="-122"/>
                <a:cs typeface="Calibri" pitchFamily="34" charset="-120"/>
              </a:rPr>
              <a:t>Decision rights table published and communicated across combined entity</a:t>
            </a:r>
            <a:endParaRPr lang="en-US" sz="850" dirty="0"/>
          </a:p>
        </p:txBody>
      </p:sp>
      <p:sp>
        <p:nvSpPr>
          <p:cNvPr id="26" name="Shape 24"/>
          <p:cNvSpPr/>
          <p:nvPr/>
        </p:nvSpPr>
        <p:spPr>
          <a:xfrm>
            <a:off x="5861304" y="4443984"/>
            <a:ext cx="2633472" cy="329184"/>
          </a:xfrm>
          <a:prstGeom prst="rect">
            <a:avLst/>
          </a:prstGeom>
          <a:solidFill>
            <a:srgbClr val="D6E4F7"/>
          </a:solidFill>
          <a:ln w="6350">
            <a:solidFill>
              <a:srgbClr val="CBD5E1"/>
            </a:solidFill>
            <a:prstDash val="solid"/>
          </a:ln>
        </p:spPr>
        <p:txBody>
          <a:bodyPr/>
          <a:lstStyle/>
          <a:p>
            <a:endParaRPr lang="en-US"/>
          </a:p>
        </p:txBody>
      </p:sp>
      <p:sp>
        <p:nvSpPr>
          <p:cNvPr id="27" name="Text 25"/>
          <p:cNvSpPr/>
          <p:nvPr/>
        </p:nvSpPr>
        <p:spPr>
          <a:xfrm>
            <a:off x="5952744" y="4443984"/>
            <a:ext cx="2450592" cy="329184"/>
          </a:xfrm>
          <a:prstGeom prst="rect">
            <a:avLst/>
          </a:prstGeom>
          <a:noFill/>
          <a:ln/>
        </p:spPr>
        <p:txBody>
          <a:bodyPr wrap="square" rtlCol="0" anchor="ctr"/>
          <a:lstStyle/>
          <a:p>
            <a:pPr marL="0" indent="0" algn="l">
              <a:buNone/>
            </a:pPr>
            <a:r>
              <a:rPr lang="en-US" sz="750" i="1" dirty="0">
                <a:solidFill>
                  <a:srgbClr val="243461"/>
                </a:solidFill>
              </a:rPr>
              <a:t>NIST AI RMF MANAGE · EAIRM §10.3–10.4 · EU AI Act Art. 62 (incident reporting)</a:t>
            </a:r>
            <a:endParaRPr lang="en-US" sz="750" dirty="0"/>
          </a:p>
        </p:txBody>
      </p:sp>
      <p:sp>
        <p:nvSpPr>
          <p:cNvPr id="28" name="Text 26"/>
          <p:cNvSpPr/>
          <p:nvPr/>
        </p:nvSpPr>
        <p:spPr>
          <a:xfrm>
            <a:off x="457200" y="4846320"/>
            <a:ext cx="8229600" cy="256032"/>
          </a:xfrm>
          <a:prstGeom prst="rect">
            <a:avLst/>
          </a:prstGeom>
          <a:noFill/>
          <a:ln/>
        </p:spPr>
        <p:txBody>
          <a:bodyPr wrap="square" rtlCol="0" anchor="b"/>
          <a:lstStyle/>
          <a:p>
            <a:pPr marL="0" indent="0" algn="l">
              <a:buNone/>
            </a:pPr>
            <a:r>
              <a:rPr lang="en-US" sz="750" i="1" dirty="0">
                <a:solidFill>
                  <a:srgbClr val="94A3B8"/>
                </a:solidFill>
              </a:rPr>
              <a:t>Source: Kok, Day 3 Sess 2 (Slide p.36); Bıçakçı, Day 5 </a:t>
            </a:r>
            <a:r>
              <a:rPr lang="en-US" sz="750" i="1" dirty="0" err="1">
                <a:solidFill>
                  <a:srgbClr val="94A3B8"/>
                </a:solidFill>
              </a:rPr>
              <a:t>Sess</a:t>
            </a:r>
            <a:r>
              <a:rPr lang="en-US" sz="750" i="1" dirty="0">
                <a:solidFill>
                  <a:srgbClr val="94A3B8"/>
                </a:solidFill>
              </a:rPr>
              <a:t> 3; EAIRM §10.3–10.4. Monthly KRI cadence: Yemi, Day 4 Sess 2. SMCR role: anticipated (Kok, Day 3 Sess 2, Slide p.15).</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554480" cy="256032"/>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201168"/>
            <a:ext cx="1554480" cy="256032"/>
          </a:xfrm>
          <a:prstGeom prst="rect">
            <a:avLst/>
          </a:prstGeom>
          <a:noFill/>
          <a:ln/>
        </p:spPr>
        <p:txBody>
          <a:bodyPr wrap="square" lIns="0" tIns="0" rIns="0" bIns="0" rtlCol="0" anchor="ctr"/>
          <a:lstStyle/>
          <a:p>
            <a:pPr marL="0" indent="0" algn="ctr">
              <a:buNone/>
            </a:pPr>
            <a:r>
              <a:rPr lang="en-US" sz="750" b="1" dirty="0">
                <a:solidFill>
                  <a:srgbClr val="FFFFFF"/>
                </a:solidFill>
              </a:rPr>
              <a:t>DD  ·  DUE DILIGENCE VIEW</a:t>
            </a:r>
            <a:endParaRPr lang="en-US" sz="750" dirty="0"/>
          </a:p>
        </p:txBody>
      </p:sp>
      <p:sp>
        <p:nvSpPr>
          <p:cNvPr id="4" name="Text 2"/>
          <p:cNvSpPr/>
          <p:nvPr/>
        </p:nvSpPr>
        <p:spPr>
          <a:xfrm>
            <a:off x="457200" y="512064"/>
            <a:ext cx="8229600" cy="658368"/>
          </a:xfrm>
          <a:prstGeom prst="rect">
            <a:avLst/>
          </a:prstGeom>
          <a:noFill/>
          <a:ln/>
        </p:spPr>
        <p:txBody>
          <a:bodyPr wrap="square" rtlCol="0" anchor="ctr"/>
          <a:lstStyle/>
          <a:p>
            <a:pPr marL="0" indent="0" algn="l">
              <a:buNone/>
            </a:pPr>
            <a:r>
              <a:rPr lang="en-US" sz="1900" b="1" dirty="0">
                <a:solidFill>
                  <a:srgbClr val="1C2951"/>
                </a:solidFill>
                <a:latin typeface="Calibri" pitchFamily="34" charset="0"/>
                <a:ea typeface="Calibri" pitchFamily="34" charset="-122"/>
                <a:cs typeface="Calibri" pitchFamily="34" charset="-120"/>
              </a:rPr>
              <a:t>Pre-Close Governance Due Diligence: Artefacts to Request from LumaPay</a:t>
            </a:r>
            <a:endParaRPr lang="en-US" sz="1900" dirty="0"/>
          </a:p>
        </p:txBody>
      </p:sp>
      <p:sp>
        <p:nvSpPr>
          <p:cNvPr id="5" name="Shape 3"/>
          <p:cNvSpPr/>
          <p:nvPr/>
        </p:nvSpPr>
        <p:spPr>
          <a:xfrm>
            <a:off x="457200" y="1207008"/>
            <a:ext cx="8229600" cy="27432"/>
          </a:xfrm>
          <a:prstGeom prst="rect">
            <a:avLst/>
          </a:prstGeom>
          <a:solidFill>
            <a:srgbClr val="CBD5E1"/>
          </a:solidFill>
          <a:ln w="12700">
            <a:solidFill>
              <a:srgbClr val="CBD5E1"/>
            </a:solidFill>
            <a:prstDash val="solid"/>
          </a:ln>
        </p:spPr>
        <p:txBody>
          <a:bodyPr/>
          <a:lstStyle/>
          <a:p>
            <a:endParaRPr lang="en-US"/>
          </a:p>
        </p:txBody>
      </p:sp>
      <p:sp>
        <p:nvSpPr>
          <p:cNvPr id="6" name="Text 4"/>
          <p:cNvSpPr/>
          <p:nvPr/>
        </p:nvSpPr>
        <p:spPr>
          <a:xfrm>
            <a:off x="320040" y="1243584"/>
            <a:ext cx="8503920" cy="237744"/>
          </a:xfrm>
          <a:prstGeom prst="rect">
            <a:avLst/>
          </a:prstGeom>
          <a:noFill/>
          <a:ln/>
        </p:spPr>
        <p:txBody>
          <a:bodyPr wrap="square" rtlCol="0" anchor="ctr"/>
          <a:lstStyle/>
          <a:p>
            <a:pPr marL="0" indent="0" algn="l">
              <a:buNone/>
            </a:pPr>
            <a:r>
              <a:rPr lang="en-US" sz="800" i="1" dirty="0">
                <a:solidFill>
                  <a:srgbClr val="475569"/>
                </a:solidFill>
              </a:rPr>
              <a:t>Governance-lens artefacts mapped to standards (</a:t>
            </a:r>
            <a:r>
              <a:rPr lang="en-US" sz="800" i="1" dirty="0" err="1">
                <a:solidFill>
                  <a:srgbClr val="475569"/>
                </a:solidFill>
              </a:rPr>
              <a:t>Bıçakçı</a:t>
            </a:r>
            <a:r>
              <a:rPr lang="en-US" sz="800" i="1" dirty="0">
                <a:solidFill>
                  <a:srgbClr val="475569"/>
                </a:solidFill>
              </a:rPr>
              <a:t>): 'identify critical AI risks pre-close; map to model docs, DPAs, audit logs, vendor contracts against EU AI Act, GDPR, ISO, NIST.' Absence = pre-close governance gap.</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38301970"/>
              </p:ext>
            </p:extLst>
          </p:nvPr>
        </p:nvGraphicFramePr>
        <p:xfrm>
          <a:off x="274320" y="1508760"/>
          <a:ext cx="7680960" cy="3456432"/>
        </p:xfrm>
        <a:graphic>
          <a:graphicData uri="http://schemas.openxmlformats.org/drawingml/2006/table">
            <a:tbl>
              <a:tblPr/>
              <a:tblGrid>
                <a:gridCol w="256032">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1115568">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gridCol w="1545336">
                  <a:extLst>
                    <a:ext uri="{9D8B030D-6E8A-4147-A177-3AD203B41FA5}">
                      <a16:colId xmlns:a16="http://schemas.microsoft.com/office/drawing/2014/main" val="20005"/>
                    </a:ext>
                  </a:extLst>
                </a:gridCol>
              </a:tblGrid>
              <a:tr h="329184">
                <a:tc>
                  <a:txBody>
                    <a:bodyPr/>
                    <a:lstStyle/>
                    <a:p>
                      <a:pPr marL="0" indent="0" algn="ctr">
                        <a:buNone/>
                      </a:pPr>
                      <a:r>
                        <a:rPr lang="en-US" sz="800" b="1" dirty="0">
                          <a:solidFill>
                            <a:srgbClr val="FFFFFF"/>
                          </a:solidFill>
                        </a:rPr>
                        <a:t>#</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Artefact to Request</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Risk Addressed</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Standard / Clause</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If Absent: Implication</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Course Source</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extLst>
                  <a:ext uri="{0D108BD9-81ED-4DB2-BD59-A6C34878D82A}">
                    <a16:rowId xmlns:a16="http://schemas.microsoft.com/office/drawing/2014/main" val="10000"/>
                  </a:ext>
                </a:extLst>
              </a:tr>
              <a:tr h="329184">
                <a:tc>
                  <a:txBody>
                    <a:bodyPr/>
                    <a:lstStyle/>
                    <a:p>
                      <a:pPr marL="0" indent="0" algn="ctr">
                        <a:buNone/>
                      </a:pPr>
                      <a:r>
                        <a:rPr lang="en-US" sz="800" b="1" dirty="0">
                          <a:solidFill>
                            <a:srgbClr val="1C2951"/>
                          </a:solidFill>
                        </a:rPr>
                        <a:t>1</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000000"/>
                          </a:solidFill>
                        </a:rPr>
                        <a:t>Complete AI asset inventory incl. shadow / informal tools</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C2626"/>
                          </a:solidFill>
                        </a:rPr>
                        <a:t>Shadow AI liability (GR-01, GR-02)</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a:solidFill>
                            <a:srgbClr val="000000"/>
                          </a:solidFill>
                        </a:rPr>
                        <a:t>NIST AI RMF MAP; ISO/IEC 42001 Cl.4</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C2626"/>
                          </a:solidFill>
                        </a:rPr>
                        <a:t>Nordhaven cannot quantify regulatory exposure at Day 1 close</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650" i="1" dirty="0" err="1">
                          <a:solidFill>
                            <a:srgbClr val="000000"/>
                          </a:solidFill>
                        </a:rPr>
                        <a:t>Bıçakçı</a:t>
                      </a:r>
                      <a:r>
                        <a:rPr lang="en-US" sz="650" i="1" dirty="0">
                          <a:solidFill>
                            <a:srgbClr val="000000"/>
                          </a:solidFill>
                        </a:rPr>
                        <a:t>; Manikam, Day 4 </a:t>
                      </a:r>
                      <a:r>
                        <a:rPr lang="en-US" sz="650" i="1" dirty="0" err="1">
                          <a:solidFill>
                            <a:srgbClr val="000000"/>
                          </a:solidFill>
                        </a:rPr>
                        <a:t>Sess</a:t>
                      </a:r>
                      <a:r>
                        <a:rPr lang="en-US" sz="650" i="1" dirty="0">
                          <a:solidFill>
                            <a:srgbClr val="000000"/>
                          </a:solidFill>
                        </a:rPr>
                        <a:t> 1</a:t>
                      </a:r>
                      <a:endParaRPr lang="en-US" sz="6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lang="en-US" sz="800" b="1" dirty="0">
                          <a:solidFill>
                            <a:srgbClr val="1C2951"/>
                          </a:solidFill>
                        </a:rPr>
                        <a:t>2</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000000"/>
                          </a:solidFill>
                        </a:rPr>
                        <a:t>Model cards / technical documentation for all four in-scope systems</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97706"/>
                          </a:solidFill>
                        </a:rPr>
                        <a:t>EU AI Act Art. 9 non-compliance (GR-03)</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a:solidFill>
                            <a:srgbClr val="000000"/>
                          </a:solidFill>
                        </a:rPr>
                        <a:t>EU AI Act Art. 9; ISO/IEC 42001 Cl.8; NIST AI RMF MAP</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97706"/>
                          </a:solidFill>
                        </a:rPr>
                        <a:t>LumaCredit-EU high-risk with no conformity evidence = immediate post-close exposure</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650" i="1" dirty="0">
                          <a:solidFill>
                            <a:srgbClr val="000000"/>
                          </a:solidFill>
                        </a:rPr>
                        <a:t>Brief Slides ('Key AI Systems'); </a:t>
                      </a:r>
                      <a:r>
                        <a:rPr lang="en-US" sz="650" i="1" dirty="0" err="1">
                          <a:solidFill>
                            <a:srgbClr val="000000"/>
                          </a:solidFill>
                        </a:rPr>
                        <a:t>Bıçakçı</a:t>
                      </a:r>
                      <a:endParaRPr lang="en-US" sz="6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ctr">
                        <a:buNone/>
                      </a:pPr>
                      <a:r>
                        <a:rPr lang="en-US" sz="800" b="1" dirty="0">
                          <a:solidFill>
                            <a:srgbClr val="1C2951"/>
                          </a:solidFill>
                        </a:rPr>
                        <a:t>3</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000000"/>
                          </a:solidFill>
                        </a:rPr>
                        <a:t>Board-level AI governance policy, risk appetite statement, RACI documentation</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C2626"/>
                          </a:solidFill>
                        </a:rPr>
                        <a:t>Accountability / maturity gap (GR-01)</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a:solidFill>
                            <a:srgbClr val="000000"/>
                          </a:solidFill>
                        </a:rPr>
                        <a:t>UK Corp Gov Code; ISO/IEC 42001 Cl.5–6; NIST AI RMF GOVERN 2</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C2626"/>
                          </a:solidFill>
                        </a:rPr>
                        <a:t>Confirms LumaPay Level 1–2; Nordhaven must build governance from scratch</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650" i="1" dirty="0" err="1">
                          <a:solidFill>
                            <a:srgbClr val="000000"/>
                          </a:solidFill>
                        </a:rPr>
                        <a:t>Bıçakçı</a:t>
                      </a:r>
                      <a:r>
                        <a:rPr lang="en-US" sz="650" i="1" dirty="0">
                          <a:solidFill>
                            <a:srgbClr val="000000"/>
                          </a:solidFill>
                        </a:rPr>
                        <a:t>; EAIRM §5.1; Kok, Day 3 Sess 2</a:t>
                      </a:r>
                      <a:endParaRPr lang="en-US" sz="6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lang="en-US" sz="800" b="1" dirty="0">
                          <a:solidFill>
                            <a:srgbClr val="1C2951"/>
                          </a:solidFill>
                        </a:rPr>
                        <a:t>4</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000000"/>
                          </a:solidFill>
                        </a:rPr>
                        <a:t>Data Processing Agreements + cross-border transfer documentation (EU–UK–US)</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97706"/>
                          </a:solidFill>
                        </a:rPr>
                        <a:t>GDPR / UK DPA non-compliance; cross-border risk</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a:solidFill>
                            <a:srgbClr val="000000"/>
                          </a:solidFill>
                        </a:rPr>
                        <a:t>GDPR Art. 28, Art. 46; UK DPA 2018</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97706"/>
                          </a:solidFill>
                        </a:rPr>
                        <a:t>Data flowing to US cloud raises immediate GDPR questions (</a:t>
                      </a:r>
                      <a:r>
                        <a:rPr lang="en-US" sz="700" dirty="0" err="1">
                          <a:solidFill>
                            <a:srgbClr val="D97706"/>
                          </a:solidFill>
                        </a:rPr>
                        <a:t>Bıçakçı</a:t>
                      </a:r>
                      <a:r>
                        <a:rPr lang="en-US" sz="700" dirty="0">
                          <a:solidFill>
                            <a:srgbClr val="D97706"/>
                          </a:solidFill>
                        </a:rPr>
                        <a:t>)</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650" i="1" dirty="0" err="1">
                          <a:solidFill>
                            <a:srgbClr val="000000"/>
                          </a:solidFill>
                        </a:rPr>
                        <a:t>Bıçakçı</a:t>
                      </a:r>
                      <a:r>
                        <a:rPr lang="en-US" sz="650" i="1" dirty="0">
                          <a:solidFill>
                            <a:srgbClr val="000000"/>
                          </a:solidFill>
                        </a:rPr>
                        <a:t>; Brief Slides</a:t>
                      </a:r>
                      <a:endParaRPr lang="en-US" sz="6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ctr">
                        <a:buNone/>
                      </a:pPr>
                      <a:r>
                        <a:rPr lang="en-US" sz="800" b="1" dirty="0">
                          <a:solidFill>
                            <a:srgbClr val="1C2951"/>
                          </a:solidFill>
                        </a:rPr>
                        <a:t>5</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000000"/>
                          </a:solidFill>
                        </a:rPr>
                        <a:t>Vendor contracts for FraudShield + foundation model providers: change-of-control clauses, SLAs, termination</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97706"/>
                          </a:solidFill>
                        </a:rPr>
                        <a:t>Dependency cliff (GR-06); Taxonomy A9</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a:solidFill>
                            <a:srgbClr val="000000"/>
                          </a:solidFill>
                        </a:rPr>
                        <a:t>DORA Art. 28–30 (A2); ISO/IEC 27036; Taxonomy A9</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97706"/>
                          </a:solidFill>
                        </a:rPr>
                        <a:t>Non-assignable licence triggered at close could cut FraudShield access within days</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650" i="1" dirty="0">
                          <a:solidFill>
                            <a:srgbClr val="000000"/>
                          </a:solidFill>
                        </a:rPr>
                        <a:t>Brief Slides ('FraudShield'); </a:t>
                      </a:r>
                      <a:r>
                        <a:rPr lang="en-US" sz="650" i="1" dirty="0" err="1">
                          <a:solidFill>
                            <a:srgbClr val="000000"/>
                          </a:solidFill>
                        </a:rPr>
                        <a:t>Bıçakçı</a:t>
                      </a:r>
                      <a:endParaRPr lang="en-US" sz="6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lang="en-US" sz="800" b="1" dirty="0">
                          <a:solidFill>
                            <a:srgbClr val="1C2951"/>
                          </a:solidFill>
                        </a:rPr>
                        <a:t>6</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000000"/>
                          </a:solidFill>
                        </a:rPr>
                        <a:t>Audit logs and model monitoring records for each in-scope system</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97706"/>
                          </a:solidFill>
                        </a:rPr>
                        <a:t>Opacity / drift baseline missing; EU AI Act Art. 9(9)</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a:solidFill>
                            <a:srgbClr val="000000"/>
                          </a:solidFill>
                        </a:rPr>
                        <a:t>NIST AI RMF MEASURE; EU AI Act Art. 9(9); ISO/IEC 23894</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97706"/>
                          </a:solidFill>
                        </a:rPr>
                        <a:t>No pre-close baseline means post-close drift is undetectable against a known starting point</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650" i="1" dirty="0">
                          <a:solidFill>
                            <a:srgbClr val="000000"/>
                          </a:solidFill>
                        </a:rPr>
                        <a:t>Manikam, Day 4 Sess 1; EAIRM §10.1</a:t>
                      </a:r>
                      <a:endParaRPr lang="en-US" sz="6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lgn="ctr">
                        <a:buNone/>
                      </a:pPr>
                      <a:r>
                        <a:rPr lang="en-US" sz="800" b="1" dirty="0">
                          <a:solidFill>
                            <a:srgbClr val="1C2951"/>
                          </a:solidFill>
                        </a:rPr>
                        <a:t>7</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000000"/>
                          </a:solidFill>
                        </a:rPr>
                        <a:t>Evidence of AI governance approval (AI Council / equivalent) for each in-scope system</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C2626"/>
                          </a:solidFill>
                        </a:rPr>
                        <a:t>Unsanctioned deployment; Shadow AI (GR-02)</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a:solidFill>
                            <a:srgbClr val="000000"/>
                          </a:solidFill>
                        </a:rPr>
                        <a:t>ISO/IEC 42001 Cl.8; NIST AI RMF GOVERN 2</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C2626"/>
                          </a:solidFill>
                        </a:rPr>
                        <a:t>Confirms systems deployed outside governance — full regulatory risk transfers unmitigated</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650" i="1" dirty="0">
                          <a:solidFill>
                            <a:srgbClr val="000000"/>
                          </a:solidFill>
                        </a:rPr>
                        <a:t>Manikam, Day 4 </a:t>
                      </a:r>
                      <a:r>
                        <a:rPr lang="en-US" sz="650" i="1" dirty="0" err="1">
                          <a:solidFill>
                            <a:srgbClr val="000000"/>
                          </a:solidFill>
                        </a:rPr>
                        <a:t>Sess</a:t>
                      </a:r>
                      <a:r>
                        <a:rPr lang="en-US" sz="650" i="1" dirty="0">
                          <a:solidFill>
                            <a:srgbClr val="000000"/>
                          </a:solidFill>
                        </a:rPr>
                        <a:t> 1</a:t>
                      </a:r>
                      <a:endParaRPr lang="en-US" sz="6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lgn="ctr">
                        <a:buNone/>
                      </a:pPr>
                      <a:r>
                        <a:rPr lang="en-US" sz="800" b="1" dirty="0">
                          <a:solidFill>
                            <a:srgbClr val="1C2951"/>
                          </a:solidFill>
                        </a:rPr>
                        <a:t>8</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000000"/>
                          </a:solidFill>
                        </a:rPr>
                        <a:t>Employee contracts and talent retention status for key AI / data science staff</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97706"/>
                          </a:solidFill>
                        </a:rPr>
                        <a:t>Talent flight; orphaned models (GR-05)</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i="1" dirty="0">
                          <a:solidFill>
                            <a:srgbClr val="000000"/>
                          </a:solidFill>
                        </a:rPr>
                        <a:t>ISO/IEC 42001 Cl.5 (competence); RACI Model (Glossary §B)</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00" dirty="0">
                          <a:solidFill>
                            <a:srgbClr val="D97706"/>
                          </a:solidFill>
                        </a:rPr>
                        <a:t>No binding contracts confirmed. RACI must be pre-close to prevent Day 1 ownership vacuum</a:t>
                      </a:r>
                      <a:endParaRPr lang="en-US" sz="7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650" i="1" dirty="0">
                          <a:solidFill>
                            <a:srgbClr val="000000"/>
                          </a:solidFill>
                        </a:rPr>
                        <a:t>Submission Guidance; </a:t>
                      </a:r>
                      <a:r>
                        <a:rPr lang="en-US" sz="650" i="1" dirty="0" err="1">
                          <a:solidFill>
                            <a:srgbClr val="000000"/>
                          </a:solidFill>
                        </a:rPr>
                        <a:t>Bıçakçı</a:t>
                      </a:r>
                      <a:endParaRPr lang="en-US" sz="6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8" name="Text 5"/>
          <p:cNvSpPr/>
          <p:nvPr/>
        </p:nvSpPr>
        <p:spPr>
          <a:xfrm>
            <a:off x="457200" y="4846320"/>
            <a:ext cx="8229600" cy="256032"/>
          </a:xfrm>
          <a:prstGeom prst="rect">
            <a:avLst/>
          </a:prstGeom>
          <a:noFill/>
          <a:ln/>
        </p:spPr>
        <p:txBody>
          <a:bodyPr wrap="square" rtlCol="0" anchor="b"/>
          <a:lstStyle/>
          <a:p>
            <a:pPr marL="0" indent="0" algn="l">
              <a:buNone/>
            </a:pPr>
            <a:r>
              <a:rPr lang="en-US" sz="750" i="1" dirty="0">
                <a:solidFill>
                  <a:srgbClr val="94A3B8"/>
                </a:solidFill>
              </a:rPr>
              <a:t>Source: Bıçakçı, Day 5 </a:t>
            </a:r>
            <a:r>
              <a:rPr lang="en-US" sz="750" i="1" dirty="0" err="1">
                <a:solidFill>
                  <a:srgbClr val="94A3B8"/>
                </a:solidFill>
              </a:rPr>
              <a:t>Sess</a:t>
            </a:r>
            <a:r>
              <a:rPr lang="en-US" sz="750" i="1" dirty="0">
                <a:solidFill>
                  <a:srgbClr val="94A3B8"/>
                </a:solidFill>
              </a:rPr>
              <a:t> 3; Manikam, Day 4 Sess 1; EAIRM §10.1; Brief Slides. GR-IDs link to G0 Executive Summary.</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554480" cy="256032"/>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201168"/>
            <a:ext cx="1554480" cy="256032"/>
          </a:xfrm>
          <a:prstGeom prst="rect">
            <a:avLst/>
          </a:prstGeom>
          <a:noFill/>
          <a:ln/>
        </p:spPr>
        <p:txBody>
          <a:bodyPr wrap="square" lIns="0" tIns="0" rIns="0" bIns="0" rtlCol="0" anchor="ctr"/>
          <a:lstStyle/>
          <a:p>
            <a:pPr marL="0" indent="0" algn="ctr">
              <a:buNone/>
            </a:pPr>
            <a:r>
              <a:rPr lang="en-US" sz="750" b="1" dirty="0">
                <a:solidFill>
                  <a:srgbClr val="FFFFFF"/>
                </a:solidFill>
              </a:rPr>
              <a:t>S1  ·  STANDARDS</a:t>
            </a:r>
            <a:endParaRPr lang="en-US" sz="750" dirty="0"/>
          </a:p>
        </p:txBody>
      </p:sp>
      <p:sp>
        <p:nvSpPr>
          <p:cNvPr id="4" name="Text 2"/>
          <p:cNvSpPr/>
          <p:nvPr/>
        </p:nvSpPr>
        <p:spPr>
          <a:xfrm>
            <a:off x="457200" y="512064"/>
            <a:ext cx="8229600" cy="658368"/>
          </a:xfrm>
          <a:prstGeom prst="rect">
            <a:avLst/>
          </a:prstGeom>
          <a:noFill/>
          <a:ln/>
        </p:spPr>
        <p:txBody>
          <a:bodyPr wrap="square" rtlCol="0" anchor="ctr"/>
          <a:lstStyle/>
          <a:p>
            <a:pPr marL="0" indent="0" algn="l">
              <a:buNone/>
            </a:pPr>
            <a:r>
              <a:rPr lang="en-US" sz="2100" b="1" dirty="0">
                <a:solidFill>
                  <a:srgbClr val="1C2951"/>
                </a:solidFill>
                <a:latin typeface="Calibri" pitchFamily="34" charset="0"/>
                <a:ea typeface="Calibri" pitchFamily="34" charset="-122"/>
                <a:cs typeface="Calibri" pitchFamily="34" charset="-120"/>
              </a:rPr>
              <a:t>Standards Traceability: Binding Obligations — All Four Systems</a:t>
            </a:r>
            <a:endParaRPr lang="en-US" sz="2100" dirty="0"/>
          </a:p>
        </p:txBody>
      </p:sp>
      <p:sp>
        <p:nvSpPr>
          <p:cNvPr id="5" name="Shape 3"/>
          <p:cNvSpPr/>
          <p:nvPr/>
        </p:nvSpPr>
        <p:spPr>
          <a:xfrm>
            <a:off x="457200" y="1207008"/>
            <a:ext cx="8229600" cy="27432"/>
          </a:xfrm>
          <a:prstGeom prst="rect">
            <a:avLst/>
          </a:prstGeom>
          <a:solidFill>
            <a:srgbClr val="CBD5E1"/>
          </a:solidFill>
          <a:ln w="12700">
            <a:solidFill>
              <a:srgbClr val="CBD5E1"/>
            </a:solidFill>
            <a:prstDash val="solid"/>
          </a:ln>
        </p:spPr>
        <p:txBody>
          <a:bodyPr/>
          <a:lstStyle/>
          <a:p>
            <a:endParaRPr lang="en-US"/>
          </a:p>
        </p:txBody>
      </p:sp>
      <p:sp>
        <p:nvSpPr>
          <p:cNvPr id="6" name="Text 4"/>
          <p:cNvSpPr/>
          <p:nvPr/>
        </p:nvSpPr>
        <p:spPr>
          <a:xfrm>
            <a:off x="320040" y="1243584"/>
            <a:ext cx="6035040" cy="256032"/>
          </a:xfrm>
          <a:prstGeom prst="rect">
            <a:avLst/>
          </a:prstGeom>
          <a:noFill/>
          <a:ln/>
        </p:spPr>
        <p:txBody>
          <a:bodyPr wrap="square" rtlCol="0" anchor="ctr"/>
          <a:lstStyle/>
          <a:p>
            <a:pPr marL="0" indent="0" algn="l">
              <a:buNone/>
            </a:pPr>
            <a:r>
              <a:rPr lang="en-US" sz="750" i="1" dirty="0">
                <a:solidFill>
                  <a:srgbClr val="475569"/>
                </a:solidFill>
              </a:rPr>
              <a:t>Five pillars required — no single standard covers all three risk domains (EAIRM Framework p.4 §3). Every control must trace to a clause (</a:t>
            </a:r>
            <a:r>
              <a:rPr lang="en-US" sz="750" i="1" dirty="0" err="1">
                <a:solidFill>
                  <a:srgbClr val="475569"/>
                </a:solidFill>
              </a:rPr>
              <a:t>Bıçakçı</a:t>
            </a:r>
            <a:r>
              <a:rPr lang="en-US" sz="750" i="1" dirty="0">
                <a:solidFill>
                  <a:srgbClr val="475569"/>
                </a:solidFill>
              </a:rPr>
              <a:t>). Scope note: NIST CSF 2.0 added for completeness; detailed cyber controls addressed in cyber team contribution.</a:t>
            </a:r>
            <a:endParaRPr lang="en-US" sz="750" dirty="0"/>
          </a:p>
        </p:txBody>
      </p:sp>
      <p:sp>
        <p:nvSpPr>
          <p:cNvPr id="7" name="Text 5"/>
          <p:cNvSpPr/>
          <p:nvPr/>
        </p:nvSpPr>
        <p:spPr>
          <a:xfrm>
            <a:off x="6492240" y="1243584"/>
            <a:ext cx="749808" cy="256032"/>
          </a:xfrm>
          <a:prstGeom prst="rect">
            <a:avLst/>
          </a:prstGeom>
          <a:noFill/>
          <a:ln/>
        </p:spPr>
        <p:txBody>
          <a:bodyPr wrap="square" rtlCol="0" anchor="ctr"/>
          <a:lstStyle/>
          <a:p>
            <a:pPr marL="0" indent="0" algn="l">
              <a:buNone/>
            </a:pPr>
            <a:r>
              <a:rPr lang="en-US" sz="800" dirty="0">
                <a:solidFill>
                  <a:srgbClr val="DC2626"/>
                </a:solidFill>
              </a:rPr>
              <a:t>●  Binding</a:t>
            </a:r>
            <a:endParaRPr lang="en-US" sz="800" dirty="0"/>
          </a:p>
        </p:txBody>
      </p:sp>
      <p:sp>
        <p:nvSpPr>
          <p:cNvPr id="8" name="Text 6"/>
          <p:cNvSpPr/>
          <p:nvPr/>
        </p:nvSpPr>
        <p:spPr>
          <a:xfrm>
            <a:off x="7269480" y="1243584"/>
            <a:ext cx="749808" cy="256032"/>
          </a:xfrm>
          <a:prstGeom prst="rect">
            <a:avLst/>
          </a:prstGeom>
          <a:noFill/>
          <a:ln/>
        </p:spPr>
        <p:txBody>
          <a:bodyPr wrap="square" rtlCol="0" anchor="ctr"/>
          <a:lstStyle/>
          <a:p>
            <a:pPr marL="0" indent="0" algn="l">
              <a:buNone/>
            </a:pPr>
            <a:r>
              <a:rPr lang="en-US" sz="800" dirty="0">
                <a:solidFill>
                  <a:srgbClr val="D97706"/>
                </a:solidFill>
              </a:rPr>
              <a:t>◑  Applicable</a:t>
            </a:r>
            <a:endParaRPr lang="en-US" sz="800" dirty="0"/>
          </a:p>
        </p:txBody>
      </p:sp>
      <p:sp>
        <p:nvSpPr>
          <p:cNvPr id="9" name="Text 7"/>
          <p:cNvSpPr/>
          <p:nvPr/>
        </p:nvSpPr>
        <p:spPr>
          <a:xfrm>
            <a:off x="8046720" y="1243584"/>
            <a:ext cx="749808" cy="256032"/>
          </a:xfrm>
          <a:prstGeom prst="rect">
            <a:avLst/>
          </a:prstGeom>
          <a:noFill/>
          <a:ln/>
        </p:spPr>
        <p:txBody>
          <a:bodyPr wrap="square" rtlCol="0" anchor="ctr"/>
          <a:lstStyle/>
          <a:p>
            <a:pPr marL="0" indent="0" algn="l">
              <a:buNone/>
            </a:pPr>
            <a:r>
              <a:rPr lang="en-US" sz="800" dirty="0">
                <a:solidFill>
                  <a:srgbClr val="94A3B8"/>
                </a:solidFill>
              </a:rPr>
              <a:t>○  Indirect</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554480"/>
          <a:ext cx="8595360" cy="3639312"/>
        </p:xfrm>
        <a:graphic>
          <a:graphicData uri="http://schemas.openxmlformats.org/drawingml/2006/table">
            <a:tbl>
              <a:tblPr/>
              <a:tblGrid>
                <a:gridCol w="1417320">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667512">
                  <a:extLst>
                    <a:ext uri="{9D8B030D-6E8A-4147-A177-3AD203B41FA5}">
                      <a16:colId xmlns:a16="http://schemas.microsoft.com/office/drawing/2014/main" val="20002"/>
                    </a:ext>
                  </a:extLst>
                </a:gridCol>
                <a:gridCol w="667512">
                  <a:extLst>
                    <a:ext uri="{9D8B030D-6E8A-4147-A177-3AD203B41FA5}">
                      <a16:colId xmlns:a16="http://schemas.microsoft.com/office/drawing/2014/main" val="20003"/>
                    </a:ext>
                  </a:extLst>
                </a:gridCol>
                <a:gridCol w="667512">
                  <a:extLst>
                    <a:ext uri="{9D8B030D-6E8A-4147-A177-3AD203B41FA5}">
                      <a16:colId xmlns:a16="http://schemas.microsoft.com/office/drawing/2014/main" val="20004"/>
                    </a:ext>
                  </a:extLst>
                </a:gridCol>
                <a:gridCol w="667512">
                  <a:extLst>
                    <a:ext uri="{9D8B030D-6E8A-4147-A177-3AD203B41FA5}">
                      <a16:colId xmlns:a16="http://schemas.microsoft.com/office/drawing/2014/main" val="20005"/>
                    </a:ext>
                  </a:extLst>
                </a:gridCol>
                <a:gridCol w="3337560">
                  <a:extLst>
                    <a:ext uri="{9D8B030D-6E8A-4147-A177-3AD203B41FA5}">
                      <a16:colId xmlns:a16="http://schemas.microsoft.com/office/drawing/2014/main" val="20006"/>
                    </a:ext>
                  </a:extLst>
                </a:gridCol>
              </a:tblGrid>
              <a:tr h="333756">
                <a:tc>
                  <a:txBody>
                    <a:bodyPr/>
                    <a:lstStyle/>
                    <a:p>
                      <a:pPr marL="0" indent="0">
                        <a:buNone/>
                      </a:pPr>
                      <a:r>
                        <a:rPr lang="en-US" sz="800" b="1" dirty="0">
                          <a:solidFill>
                            <a:srgbClr val="FFFFFF"/>
                          </a:solidFill>
                        </a:rPr>
                        <a:t>Standard</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Domain(s)</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lgn="ctr">
                        <a:buNone/>
                      </a:pPr>
                      <a:r>
                        <a:rPr lang="en-US" sz="750" b="1" dirty="0">
                          <a:solidFill>
                            <a:srgbClr val="FFFFFF"/>
                          </a:solidFill>
                        </a:rPr>
                        <a:t>LumaCredit-EU</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lgn="ctr">
                        <a:buNone/>
                      </a:pPr>
                      <a:r>
                        <a:rPr lang="en-US" sz="750" b="1" dirty="0">
                          <a:solidFill>
                            <a:srgbClr val="FFFFFF"/>
                          </a:solidFill>
                        </a:rPr>
                        <a:t>LumaAssist Chat</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lgn="ctr">
                        <a:buNone/>
                      </a:pPr>
                      <a:r>
                        <a:rPr lang="en-US" sz="750" b="1" dirty="0">
                          <a:solidFill>
                            <a:srgbClr val="FFFFFF"/>
                          </a:solidFill>
                        </a:rPr>
                        <a:t>AutoUnderwriter</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lgn="ctr">
                        <a:buNone/>
                      </a:pPr>
                      <a:r>
                        <a:rPr lang="en-US" sz="750" b="1" dirty="0">
                          <a:solidFill>
                            <a:srgbClr val="FFFFFF"/>
                          </a:solidFill>
                        </a:rPr>
                        <a:t>FraudShield</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tc>
                  <a:txBody>
                    <a:bodyPr/>
                    <a:lstStyle/>
                    <a:p>
                      <a:pPr marL="0" indent="0">
                        <a:buNone/>
                      </a:pPr>
                      <a:r>
                        <a:rPr lang="en-US" sz="800" b="1" dirty="0">
                          <a:solidFill>
                            <a:srgbClr val="FFFFFF"/>
                          </a:solidFill>
                        </a:rPr>
                        <a:t>Key Articles / Clauses</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2951"/>
                    </a:solidFill>
                  </a:tcPr>
                </a:tc>
                <a:extLst>
                  <a:ext uri="{0D108BD9-81ED-4DB2-BD59-A6C34878D82A}">
                    <a16:rowId xmlns:a16="http://schemas.microsoft.com/office/drawing/2014/main" val="10000"/>
                  </a:ext>
                </a:extLst>
              </a:tr>
              <a:tr h="333756">
                <a:tc>
                  <a:txBody>
                    <a:bodyPr/>
                    <a:lstStyle/>
                    <a:p>
                      <a:pPr marL="0" indent="0">
                        <a:buNone/>
                      </a:pPr>
                      <a:r>
                        <a:rPr lang="en-US" sz="800" b="1" dirty="0">
                          <a:solidFill>
                            <a:srgbClr val="000000"/>
                          </a:solidFill>
                        </a:rPr>
                        <a:t>EU AI Act</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Gov · Operational</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000000"/>
                          </a:solidFill>
                        </a:rPr>
                        <a:t>Art. 6–7 (classification) · Art. 9 (risk mgmt system) · Art. 10 (data governance) · Art. 13–14 (transparency/oversight) · Art. 62 (serious incident: 15-day)</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3756">
                <a:tc>
                  <a:txBody>
                    <a:bodyPr/>
                    <a:lstStyle/>
                    <a:p>
                      <a:pPr marL="0" indent="0">
                        <a:buNone/>
                      </a:pPr>
                      <a:r>
                        <a:rPr lang="en-US" sz="800" b="1" dirty="0">
                          <a:solidFill>
                            <a:srgbClr val="000000"/>
                          </a:solidFill>
                        </a:rPr>
                        <a:t>GDPR / UK DPA 2018</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Gov · Operational</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000000"/>
                          </a:solidFill>
                        </a:rPr>
                        <a:t>Art. 5 (accuracy) · Art. 22 (automated decisions) · Art. 28 (DPAs) · Art. 32–34 (security/breach) · Art. 46 (cross-border transfers)</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3756">
                <a:tc>
                  <a:txBody>
                    <a:bodyPr/>
                    <a:lstStyle/>
                    <a:p>
                      <a:pPr marL="0" indent="0">
                        <a:buNone/>
                      </a:pPr>
                      <a:r>
                        <a:rPr lang="en-US" sz="800" b="1" dirty="0">
                          <a:solidFill>
                            <a:srgbClr val="000000"/>
                          </a:solidFill>
                        </a:rPr>
                        <a:t>NIST AI RMF</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Gov · Operational · Cyber</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000000"/>
                          </a:solidFill>
                        </a:rPr>
                        <a:t>GOVERN (accountability, appetite) · MAP (classification, context) · MEASURE (drift, fairness) · MANAGE (deploy, monitor, incident)</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3756">
                <a:tc>
                  <a:txBody>
                    <a:bodyPr/>
                    <a:lstStyle/>
                    <a:p>
                      <a:pPr marL="0" indent="0">
                        <a:buNone/>
                      </a:pPr>
                      <a:r>
                        <a:rPr lang="en-US" sz="800" b="1" dirty="0">
                          <a:solidFill>
                            <a:srgbClr val="000000"/>
                          </a:solidFill>
                        </a:rPr>
                        <a:t>NIST CSF 2.0</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Gov · Operational · Cyber</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000000"/>
                          </a:solidFill>
                        </a:rPr>
                        <a:t>Govern (org context, supply chain) · Respond/Recover functions (incident escalation: EAIRM §10.4). Note: NIST CSF 2.0 cyber-specific controls (Identify/Protect/Detect) are addressed in detail in the cyber team contribution.</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3756">
                <a:tc>
                  <a:txBody>
                    <a:bodyPr/>
                    <a:lstStyle/>
                    <a:p>
                      <a:pPr marL="0" indent="0">
                        <a:buNone/>
                      </a:pPr>
                      <a:r>
                        <a:rPr lang="en-US" sz="800" b="1" dirty="0">
                          <a:solidFill>
                            <a:srgbClr val="000000"/>
                          </a:solidFill>
                        </a:rPr>
                        <a:t>ISO/IEC 42001</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Governance (AI mgmt system)</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000000"/>
                          </a:solidFill>
                        </a:rPr>
                        <a:t>Cl.4 (context) · Cl.5 (leadership/accountability) · Cl.6 (planning/gap analysis) · Cl.8 (operation) · Cl.9 (performance eval/audit)</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3756">
                <a:tc>
                  <a:txBody>
                    <a:bodyPr/>
                    <a:lstStyle/>
                    <a:p>
                      <a:pPr marL="0" indent="0">
                        <a:buNone/>
                      </a:pPr>
                      <a:r>
                        <a:rPr lang="en-US" sz="800" b="1" dirty="0">
                          <a:solidFill>
                            <a:srgbClr val="000000"/>
                          </a:solidFill>
                        </a:rPr>
                        <a:t>ISO/IEC 27701</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Gov · Privacy management</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000000"/>
                          </a:solidFill>
                        </a:rPr>
                        <a:t>Privacy governance extending ISO/IEC 27001 · PII processing controls · Privacy security controls. Explicitly stated in Nordhaven's profile (Brief Slides).</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3756">
                <a:tc>
                  <a:txBody>
                    <a:bodyPr/>
                    <a:lstStyle/>
                    <a:p>
                      <a:pPr marL="0" indent="0">
                        <a:buNone/>
                      </a:pPr>
                      <a:r>
                        <a:rPr lang="en-US" sz="800" b="1" dirty="0">
                          <a:solidFill>
                            <a:srgbClr val="000000"/>
                          </a:solidFill>
                        </a:rPr>
                        <a:t>FCA / SMCR / Consumer Duty</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Gov · Sector-specific</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94A3B8"/>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000000"/>
                          </a:solidFill>
                        </a:rPr>
                        <a:t>SMF designation (⚠ anticipated SMCR-AI: Kok, Day 3 Sess 2, Slide p.15) · ⚠ Sup 15.3 (anticipated, not yet mandated) · ⚠ A7: Consumer Duty detailed obligations = general knowledge</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3756">
                <a:tc>
                  <a:txBody>
                    <a:bodyPr/>
                    <a:lstStyle/>
                    <a:p>
                      <a:pPr marL="0" indent="0">
                        <a:buNone/>
                      </a:pPr>
                      <a:r>
                        <a:rPr lang="en-US" sz="800" b="1" dirty="0">
                          <a:solidFill>
                            <a:srgbClr val="000000"/>
                          </a:solidFill>
                        </a:rPr>
                        <a:t>DORA Art. 28–30 + ISO/IEC 27036</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Gov · Cyber (3rd-party ICT)</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94A3B8"/>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000000"/>
                          </a:solidFill>
                        </a:rPr>
                        <a:t>Art. 28 (vendor assessment) · Art. 29 (concentration) · Art. 30 (contractual safeguards). ISO/IEC 27036 explicitly cited for FraudShield (Brief Slides). ⚠ A2: applied as Nordhaven group benchmark.</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3756">
                <a:tc>
                  <a:txBody>
                    <a:bodyPr/>
                    <a:lstStyle/>
                    <a:p>
                      <a:pPr marL="0" indent="0">
                        <a:buNone/>
                      </a:pPr>
                      <a:r>
                        <a:rPr lang="en-US" sz="800" b="1" dirty="0">
                          <a:solidFill>
                            <a:srgbClr val="000000"/>
                          </a:solidFill>
                        </a:rPr>
                        <a:t>ISO 31000 / COSO ERM</a:t>
                      </a:r>
                      <a:endParaRPr lang="en-US" sz="8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i="1" dirty="0">
                          <a:solidFill>
                            <a:srgbClr val="000000"/>
                          </a:solidFill>
                        </a:rPr>
                        <a:t>Governance (enterprise ERM)</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D97706"/>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94A3B8"/>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94A3B8"/>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94A3B8"/>
                          </a:solidFill>
                        </a:rPr>
                        <a:t>○</a:t>
                      </a:r>
                      <a:endParaRPr lang="en-US" sz="13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750" dirty="0">
                          <a:solidFill>
                            <a:srgbClr val="000000"/>
                          </a:solidFill>
                        </a:rPr>
                        <a:t>Risk appetite definition · ERM integration · Nordhaven's existing ISO 31000/COSO-aligned framework (Brief Slides) absorbed into combined entity</a:t>
                      </a:r>
                      <a:endParaRPr lang="en-US" sz="7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0" name="Text 8"/>
          <p:cNvSpPr/>
          <p:nvPr/>
        </p:nvSpPr>
        <p:spPr>
          <a:xfrm>
            <a:off x="457200" y="5193792"/>
            <a:ext cx="8229600" cy="292608"/>
          </a:xfrm>
          <a:prstGeom prst="rect">
            <a:avLst/>
          </a:prstGeom>
          <a:noFill/>
          <a:ln/>
        </p:spPr>
        <p:txBody>
          <a:bodyPr wrap="square" rtlCol="0" anchor="b"/>
          <a:lstStyle/>
          <a:p>
            <a:pPr marL="0" indent="0" algn="l">
              <a:buNone/>
            </a:pPr>
            <a:r>
              <a:rPr lang="en-US" sz="700" i="1" dirty="0">
                <a:solidFill>
                  <a:srgbClr val="94A3B8"/>
                </a:solidFill>
              </a:rPr>
              <a:t>Source: EAIRM Framework p.4 §3, p.14 §11; Standards &amp; Controls doc p.1–3; </a:t>
            </a:r>
            <a:r>
              <a:rPr lang="en-US" sz="700" i="1" dirty="0" err="1">
                <a:solidFill>
                  <a:srgbClr val="94A3B8"/>
                </a:solidFill>
              </a:rPr>
              <a:t>Bıçakçı</a:t>
            </a:r>
            <a:r>
              <a:rPr lang="en-US" sz="700" i="1" dirty="0">
                <a:solidFill>
                  <a:srgbClr val="94A3B8"/>
                </a:solidFill>
              </a:rPr>
              <a:t>. ISO/IEC 27701 (Nordhaven Brief Slides); ISO/IEC 27036 for FraudShield (Brief Slides); Sup 15.3 anticipated (Kok, Day 3 Sess 2, Slide p.15). NIST CSF 2.0 added — Pillar 2, EAIRM §3.1.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3878</Words>
  <Application>Microsoft Macintosh PowerPoint</Application>
  <PresentationFormat>On-screen Show (16:9)</PresentationFormat>
  <Paragraphs>379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Nordhaven–LumaPay AI Risk: Governance &amp; Standards</dc:title>
  <dc:subject>Governance and Standards contribution to Board Deck</dc:subject>
  <dc:creator>Kirsten Goodman</dc:creator>
  <cp:keywords/>
  <dc:description/>
  <cp:lastModifiedBy>Kirsten Goodman</cp:lastModifiedBy>
  <cp:revision>5</cp:revision>
  <dcterms:created xsi:type="dcterms:W3CDTF">2026-05-27T11:56:47Z</dcterms:created>
  <dcterms:modified xsi:type="dcterms:W3CDTF">2026-05-28T13:26:43Z</dcterms:modified>
  <cp:category/>
</cp:coreProperties>
</file>